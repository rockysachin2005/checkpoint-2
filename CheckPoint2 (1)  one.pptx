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4" r:id="rId4"/>
    <p:sldId id="258" r:id="rId5"/>
    <p:sldId id="259" r:id="rId6"/>
    <p:sldId id="270" r:id="rId7"/>
    <p:sldId id="260" r:id="rId8"/>
    <p:sldId id="261" r:id="rId9"/>
    <p:sldId id="262" r:id="rId10"/>
    <p:sldId id="267" r:id="rId11"/>
    <p:sldId id="268" r:id="rId12"/>
    <p:sldId id="269" r:id="rId13"/>
    <p:sldId id="265" r:id="rId14"/>
    <p:sldId id="266" r:id="rId15"/>
  </p:sldIdLst>
  <p:sldSz cx="18288000" cy="10287000"/>
  <p:notesSz cx="6858000" cy="9144000"/>
  <p:embeddedFontLst>
    <p:embeddedFont>
      <p:font typeface="HK Grotesk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38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TextBox 2"/>
          <p:cNvSpPr txBox="1"/>
          <p:nvPr/>
        </p:nvSpPr>
        <p:spPr>
          <a:xfrm>
            <a:off x="2903935" y="565150"/>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K</a:t>
            </a:r>
            <a:r>
              <a:rPr lang="en-US" sz="6999" b="1">
                <a:solidFill>
                  <a:srgbClr val="F4F6FC"/>
                </a:solidFill>
                <a:latin typeface="HK Grotesk Bold"/>
                <a:ea typeface="HK Grotesk Bold"/>
                <a:cs typeface="HK Grotesk Bold"/>
                <a:sym typeface="HK Grotesk Bold"/>
              </a:rPr>
              <a:t>REATIVE </a:t>
            </a:r>
            <a:r>
              <a:rPr lang="en-US" sz="6999" b="1">
                <a:solidFill>
                  <a:srgbClr val="B04B47"/>
                </a:solidFill>
                <a:latin typeface="HK Grotesk Bold"/>
                <a:ea typeface="HK Grotesk Bold"/>
                <a:cs typeface="HK Grotesk Bold"/>
                <a:sym typeface="HK Grotesk Bold"/>
              </a:rPr>
              <a:t>G</a:t>
            </a:r>
            <a:r>
              <a:rPr lang="en-US" sz="6999" b="1">
                <a:solidFill>
                  <a:srgbClr val="F4F6FC"/>
                </a:solidFill>
                <a:latin typeface="HK Grotesk Bold"/>
                <a:ea typeface="HK Grotesk Bold"/>
                <a:cs typeface="HK Grotesk Bold"/>
                <a:sym typeface="HK Grotesk Bold"/>
              </a:rPr>
              <a:t>ENESIS 2026</a:t>
            </a:r>
          </a:p>
        </p:txBody>
      </p:sp>
      <p:grpSp>
        <p:nvGrpSpPr>
          <p:cNvPr id="3" name="Group 3"/>
          <p:cNvGrpSpPr/>
          <p:nvPr/>
        </p:nvGrpSpPr>
        <p:grpSpPr>
          <a:xfrm>
            <a:off x="12651622" y="1866900"/>
            <a:ext cx="5661778" cy="5044403"/>
            <a:chOff x="0" y="0"/>
            <a:chExt cx="912277" cy="812800"/>
          </a:xfrm>
        </p:grpSpPr>
        <p:sp>
          <p:nvSpPr>
            <p:cNvPr id="4" name="Freeform 4"/>
            <p:cNvSpPr/>
            <p:nvPr/>
          </p:nvSpPr>
          <p:spPr>
            <a:xfrm>
              <a:off x="0" y="0"/>
              <a:ext cx="912277" cy="812800"/>
            </a:xfrm>
            <a:custGeom>
              <a:avLst/>
              <a:gdLst/>
              <a:ahLst/>
              <a:cxnLst/>
              <a:rect l="l" t="t" r="r" b="b"/>
              <a:pathLst>
                <a:path w="912277" h="812800">
                  <a:moveTo>
                    <a:pt x="0" y="0"/>
                  </a:moveTo>
                  <a:lnTo>
                    <a:pt x="912277" y="0"/>
                  </a:lnTo>
                  <a:lnTo>
                    <a:pt x="912277" y="812800"/>
                  </a:lnTo>
                  <a:lnTo>
                    <a:pt x="0" y="812800"/>
                  </a:lnTo>
                  <a:close/>
                </a:path>
              </a:pathLst>
            </a:custGeom>
            <a:blipFill>
              <a:blip r:embed="rId2"/>
              <a:stretch>
                <a:fillRect l="-4086" r="-4086"/>
              </a:stretch>
            </a:blipFill>
          </p:spPr>
        </p:sp>
      </p:grpSp>
      <p:sp>
        <p:nvSpPr>
          <p:cNvPr id="5" name="TextBox 5"/>
          <p:cNvSpPr txBox="1"/>
          <p:nvPr/>
        </p:nvSpPr>
        <p:spPr>
          <a:xfrm>
            <a:off x="6507420" y="2045141"/>
            <a:ext cx="3951473" cy="576953"/>
          </a:xfrm>
          <a:prstGeom prst="rect">
            <a:avLst/>
          </a:prstGeom>
        </p:spPr>
        <p:txBody>
          <a:bodyPr wrap="square" lIns="0" tIns="0" rIns="0" bIns="0" rtlCol="0" anchor="t">
            <a:spAutoFit/>
          </a:bodyPr>
          <a:lstStyle/>
          <a:p>
            <a:pPr algn="ctr">
              <a:lnSpc>
                <a:spcPts val="4399"/>
              </a:lnSpc>
              <a:spcBef>
                <a:spcPct val="0"/>
              </a:spcBef>
            </a:pPr>
            <a:r>
              <a:rPr lang="en-US" sz="3999" b="1" dirty="0">
                <a:solidFill>
                  <a:srgbClr val="FFFFFF"/>
                </a:solidFill>
                <a:latin typeface="HK Grotesk Bold"/>
                <a:ea typeface="HK Grotesk Bold"/>
                <a:cs typeface="HK Grotesk Bold"/>
                <a:sym typeface="HK Grotesk Bold"/>
              </a:rPr>
              <a:t>FILE ANALYZER</a:t>
            </a:r>
          </a:p>
        </p:txBody>
      </p:sp>
      <p:sp>
        <p:nvSpPr>
          <p:cNvPr id="6" name="TextBox 6"/>
          <p:cNvSpPr txBox="1"/>
          <p:nvPr/>
        </p:nvSpPr>
        <p:spPr>
          <a:xfrm>
            <a:off x="914400" y="3314700"/>
            <a:ext cx="11657822" cy="6722289"/>
          </a:xfrm>
          <a:prstGeom prst="rect">
            <a:avLst/>
          </a:prstGeom>
        </p:spPr>
        <p:txBody>
          <a:bodyPr wrap="square" lIns="0" tIns="0" rIns="0" bIns="0" rtlCol="0" anchor="t">
            <a:spAutoFit/>
          </a:bodyPr>
          <a:lstStyle/>
          <a:p>
            <a:pPr marL="863595" lvl="1" indent="-431797">
              <a:lnSpc>
                <a:spcPts val="4399"/>
              </a:lnSpc>
              <a:buFont typeface="Arial"/>
              <a:buChar char="•"/>
            </a:pPr>
            <a:r>
              <a:rPr lang="en-US" sz="2400" b="1" dirty="0">
                <a:solidFill>
                  <a:srgbClr val="FFFFFF"/>
                </a:solidFill>
                <a:latin typeface="HK Grotesk Bold"/>
                <a:ea typeface="HK Grotesk Bold"/>
                <a:cs typeface="HK Grotesk Bold"/>
                <a:sym typeface="HK Grotesk Bold"/>
              </a:rPr>
              <a:t>PROBLEM STATEMENT TITLE : Cyber Safety Awareness &amp; Phishing Detection Platform</a:t>
            </a:r>
          </a:p>
          <a:p>
            <a:pPr marL="863595" lvl="1" indent="-431797">
              <a:lnSpc>
                <a:spcPts val="4399"/>
              </a:lnSpc>
              <a:buFont typeface="Arial"/>
              <a:buChar char="•"/>
            </a:pPr>
            <a:endParaRPr lang="en-US" sz="2400" b="1" dirty="0">
              <a:solidFill>
                <a:srgbClr val="FFFFFF"/>
              </a:solidFill>
              <a:latin typeface="HK Grotesk Bold"/>
              <a:ea typeface="HK Grotesk Bold"/>
              <a:cs typeface="HK Grotesk Bold"/>
              <a:sym typeface="HK Grotesk Bold"/>
            </a:endParaRPr>
          </a:p>
          <a:p>
            <a:pPr marL="863595" lvl="1" indent="-431797">
              <a:lnSpc>
                <a:spcPts val="4399"/>
              </a:lnSpc>
              <a:buFont typeface="Arial"/>
              <a:buChar char="•"/>
            </a:pPr>
            <a:r>
              <a:rPr lang="en-US" sz="2400" b="1" dirty="0">
                <a:solidFill>
                  <a:srgbClr val="FFFFFF"/>
                </a:solidFill>
                <a:latin typeface="HK Grotesk Bold"/>
                <a:ea typeface="HK Grotesk Bold"/>
                <a:cs typeface="HK Grotesk Bold"/>
                <a:sym typeface="HK Grotesk Bold"/>
              </a:rPr>
              <a:t>DOMAIN NAME: Women’s Safety &amp; Social Security</a:t>
            </a:r>
          </a:p>
          <a:p>
            <a:pPr>
              <a:lnSpc>
                <a:spcPts val="4399"/>
              </a:lnSpc>
            </a:pPr>
            <a:endParaRPr lang="en-US" sz="2400" b="1" dirty="0">
              <a:solidFill>
                <a:srgbClr val="FFFFFF"/>
              </a:solidFill>
              <a:latin typeface="HK Grotesk Bold"/>
              <a:ea typeface="HK Grotesk Bold"/>
              <a:cs typeface="HK Grotesk Bold"/>
              <a:sym typeface="HK Grotesk Bold"/>
            </a:endParaRPr>
          </a:p>
          <a:p>
            <a:pPr marL="863595" lvl="1" indent="-431797">
              <a:lnSpc>
                <a:spcPts val="4399"/>
              </a:lnSpc>
              <a:buFont typeface="Arial"/>
              <a:buChar char="•"/>
            </a:pPr>
            <a:r>
              <a:rPr lang="en-US" sz="2400" b="1" dirty="0">
                <a:solidFill>
                  <a:srgbClr val="FFFFFF"/>
                </a:solidFill>
                <a:latin typeface="HK Grotesk Bold"/>
                <a:ea typeface="HK Grotesk Bold"/>
                <a:cs typeface="HK Grotesk Bold"/>
                <a:sym typeface="HK Grotesk Bold"/>
              </a:rPr>
              <a:t>PROBLEM STATEMENT :A user-friendly tool that scans </a:t>
            </a:r>
            <a:r>
              <a:rPr lang="en-US" sz="2400" b="1">
                <a:solidFill>
                  <a:srgbClr val="FFFFFF"/>
                </a:solidFill>
                <a:latin typeface="HK Grotesk Bold"/>
                <a:ea typeface="HK Grotesk Bold"/>
                <a:cs typeface="HK Grotesk Bold"/>
                <a:sym typeface="HK Grotesk Bold"/>
              </a:rPr>
              <a:t>suspicious files </a:t>
            </a:r>
            <a:r>
              <a:rPr lang="en-US" sz="2400" b="1" dirty="0">
                <a:solidFill>
                  <a:srgbClr val="FFFFFF"/>
                </a:solidFill>
                <a:latin typeface="HK Grotesk Bold"/>
                <a:ea typeface="HK Grotesk Bold"/>
                <a:cs typeface="HK Grotesk Bold"/>
                <a:sym typeface="HK Grotesk Bold"/>
              </a:rPr>
              <a:t>(APKs, Doc’s,  Video’s, Image’s, audio’s and </a:t>
            </a:r>
            <a:r>
              <a:rPr lang="en-US" sz="2400" b="1" dirty="0" err="1">
                <a:solidFill>
                  <a:srgbClr val="FFFFFF"/>
                </a:solidFill>
                <a:latin typeface="HK Grotesk Bold"/>
                <a:ea typeface="HK Grotesk Bold"/>
                <a:cs typeface="HK Grotesk Bold"/>
                <a:sym typeface="HK Grotesk Bold"/>
              </a:rPr>
              <a:t>etc</a:t>
            </a:r>
            <a:r>
              <a:rPr lang="en-US" sz="2400" b="1" dirty="0">
                <a:solidFill>
                  <a:srgbClr val="FFFFFF"/>
                </a:solidFill>
                <a:latin typeface="HK Grotesk Bold"/>
                <a:ea typeface="HK Grotesk Bold"/>
                <a:cs typeface="HK Grotesk Bold"/>
                <a:sym typeface="HK Grotesk Bold"/>
              </a:rPr>
              <a:t> ) to detect malware and phishing attempts. Built for all, especially first-time internet users and those less familiar with technology and technology user’s too.</a:t>
            </a:r>
          </a:p>
          <a:p>
            <a:pPr marL="431798" lvl="1">
              <a:lnSpc>
                <a:spcPts val="4399"/>
              </a:lnSpc>
            </a:pPr>
            <a:endParaRPr lang="en-US" sz="2400" b="1" dirty="0">
              <a:solidFill>
                <a:srgbClr val="FFFFFF"/>
              </a:solidFill>
              <a:latin typeface="HK Grotesk Bold"/>
              <a:ea typeface="HK Grotesk Bold"/>
              <a:cs typeface="HK Grotesk Bold"/>
              <a:sym typeface="HK Grotesk Bold"/>
            </a:endParaRPr>
          </a:p>
          <a:p>
            <a:pPr marL="863595" lvl="1" indent="-431797">
              <a:lnSpc>
                <a:spcPts val="4399"/>
              </a:lnSpc>
              <a:buFont typeface="Arial"/>
              <a:buChar char="•"/>
            </a:pPr>
            <a:r>
              <a:rPr lang="en-US" sz="2400" b="1" dirty="0">
                <a:solidFill>
                  <a:srgbClr val="FFFFFF"/>
                </a:solidFill>
                <a:latin typeface="HK Grotesk Bold"/>
                <a:ea typeface="HK Grotesk Bold"/>
                <a:cs typeface="HK Grotesk Bold"/>
                <a:sym typeface="HK Grotesk Bold"/>
              </a:rPr>
              <a:t>TEAM-ID : KGH161</a:t>
            </a:r>
          </a:p>
          <a:p>
            <a:pPr marL="863595" lvl="1" indent="-431797">
              <a:lnSpc>
                <a:spcPts val="4399"/>
              </a:lnSpc>
              <a:buFont typeface="Arial"/>
              <a:buChar char="•"/>
            </a:pPr>
            <a:r>
              <a:rPr lang="en-US" sz="2400" b="1" dirty="0">
                <a:solidFill>
                  <a:srgbClr val="FFFFFF"/>
                </a:solidFill>
                <a:latin typeface="HK Grotesk Bold"/>
                <a:ea typeface="HK Grotesk Bold"/>
                <a:cs typeface="HK Grotesk Bold"/>
                <a:sym typeface="HK Grotesk Bold"/>
              </a:rPr>
              <a:t>TEAM NAME : RAVANA SENTINELS</a:t>
            </a:r>
          </a:p>
        </p:txBody>
      </p:sp>
      <p:sp>
        <p:nvSpPr>
          <p:cNvPr id="7" name="Freeform 7"/>
          <p:cNvSpPr/>
          <p:nvPr/>
        </p:nvSpPr>
        <p:spPr>
          <a:xfrm>
            <a:off x="-1200296" y="1331401"/>
            <a:ext cx="3062016" cy="2917266"/>
          </a:xfrm>
          <a:custGeom>
            <a:avLst/>
            <a:gdLst/>
            <a:ahLst/>
            <a:cxnLst/>
            <a:rect l="l" t="t" r="r" b="b"/>
            <a:pathLst>
              <a:path w="3062016" h="2917266">
                <a:moveTo>
                  <a:pt x="0" y="0"/>
                </a:moveTo>
                <a:lnTo>
                  <a:pt x="3062015" y="0"/>
                </a:lnTo>
                <a:lnTo>
                  <a:pt x="3062015" y="2917266"/>
                </a:lnTo>
                <a:lnTo>
                  <a:pt x="0" y="29172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15041993" y="441608"/>
            <a:ext cx="1317891" cy="1060450"/>
            <a:chOff x="0" y="0"/>
            <a:chExt cx="912277" cy="734070"/>
          </a:xfrm>
        </p:grpSpPr>
        <p:sp>
          <p:nvSpPr>
            <p:cNvPr id="9" name="Freeform 9"/>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10" name="Freeform 10"/>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11" name="TextBox 11"/>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Freeform 2"/>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5041993" y="441608"/>
            <a:ext cx="1317891" cy="1060450"/>
            <a:chOff x="0" y="0"/>
            <a:chExt cx="912277" cy="734070"/>
          </a:xfrm>
        </p:grpSpPr>
        <p:sp>
          <p:nvSpPr>
            <p:cNvPr id="4" name="Freeform 4"/>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5" name="Freeform 5"/>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6" name="TextBox 6"/>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7" name="TextBox 7"/>
          <p:cNvSpPr txBox="1"/>
          <p:nvPr/>
        </p:nvSpPr>
        <p:spPr>
          <a:xfrm>
            <a:off x="3657600" y="1558925"/>
            <a:ext cx="11869208" cy="8963929"/>
          </a:xfrm>
          <a:prstGeom prst="rect">
            <a:avLst/>
          </a:prstGeom>
        </p:spPr>
        <p:txBody>
          <a:bodyPr lIns="0" tIns="0" rIns="0" bIns="0" rtlCol="0" anchor="t">
            <a:spAutoFit/>
          </a:bodyPr>
          <a:lstStyle/>
          <a:p>
            <a:pPr lvl="1">
              <a:lnSpc>
                <a:spcPts val="4399"/>
              </a:lnSpc>
            </a:pPr>
            <a:r>
              <a:rPr lang="en-US" sz="2800" b="1" dirty="0">
                <a:solidFill>
                  <a:srgbClr val="FFFFFF"/>
                </a:solidFill>
                <a:latin typeface="HK Grotesk Bold"/>
                <a:ea typeface="HK Grotesk Bold"/>
                <a:cs typeface="HK Grotesk Bold"/>
                <a:sym typeface="HK Grotesk Bold"/>
              </a:rPr>
              <a:t>Problem Overview</a:t>
            </a:r>
          </a:p>
          <a:p>
            <a:pPr marL="888998" lvl="2">
              <a:lnSpc>
                <a:spcPts val="4399"/>
              </a:lnSpc>
            </a:pPr>
            <a:r>
              <a:rPr lang="en-US" sz="2000" b="1" dirty="0">
                <a:solidFill>
                  <a:srgbClr val="FFFFFF"/>
                </a:solidFill>
                <a:latin typeface="HK Grotesk Bold"/>
                <a:ea typeface="HK Grotesk Bold"/>
                <a:cs typeface="HK Grotesk Bold"/>
                <a:sym typeface="HK Grotesk Bold"/>
              </a:rPr>
              <a:t>Brief description of the problem being addressed</a:t>
            </a:r>
            <a:br>
              <a:rPr lang="en-US" sz="2000" b="1" dirty="0">
                <a:solidFill>
                  <a:srgbClr val="FFFFFF"/>
                </a:solidFill>
                <a:latin typeface="HK Grotesk Bold"/>
                <a:ea typeface="HK Grotesk Bold"/>
                <a:cs typeface="HK Grotesk Bold"/>
                <a:sym typeface="HK Grotesk Bold"/>
              </a:rPr>
            </a:br>
            <a:r>
              <a:rPr lang="en-US" sz="2000" b="1" dirty="0">
                <a:solidFill>
                  <a:srgbClr val="FFFFFF"/>
                </a:solidFill>
                <a:latin typeface="HK Grotesk Bold"/>
                <a:ea typeface="HK Grotesk Bold"/>
                <a:cs typeface="HK Grotesk Bold"/>
                <a:sym typeface="HK Grotesk Bold"/>
              </a:rPr>
              <a:t>With the rapid increase in smartphone and internet usage across India, cyber crimes have become a daily threat—especially those using malicious files like fake APKs, PDFs, and phishing links. Scammers trick users through:</a:t>
            </a:r>
          </a:p>
          <a:p>
            <a:pPr marL="863595" lvl="1" indent="-431797" algn="l">
              <a:lnSpc>
                <a:spcPts val="4399"/>
              </a:lnSpc>
              <a:buFont typeface="Arial"/>
              <a:buChar char="•"/>
            </a:pPr>
            <a:endParaRPr lang="en-US" sz="2000" b="1" dirty="0">
              <a:solidFill>
                <a:srgbClr val="FFFFFF"/>
              </a:solidFill>
              <a:latin typeface="HK Grotesk Bold"/>
              <a:ea typeface="HK Grotesk Bold"/>
              <a:cs typeface="HK Grotesk Bold"/>
              <a:sym typeface="HK Grotesk Bold"/>
            </a:endParaRPr>
          </a:p>
          <a:p>
            <a:pPr marL="863595" lvl="1" indent="-431797" algn="l">
              <a:lnSpc>
                <a:spcPts val="4399"/>
              </a:lnSpc>
              <a:buFont typeface="Arial"/>
              <a:buChar char="•"/>
            </a:pPr>
            <a:r>
              <a:rPr lang="en-US" sz="2000" b="1" dirty="0">
                <a:solidFill>
                  <a:srgbClr val="FFFFFF"/>
                </a:solidFill>
                <a:latin typeface="HK Grotesk Bold"/>
                <a:ea typeface="HK Grotesk Bold"/>
                <a:cs typeface="HK Grotesk Bold"/>
                <a:sym typeface="HK Grotesk Bold"/>
              </a:rPr>
              <a:t>Fraudulent messages claiming "viral MMS videos" (like the Angel Nuzhat scam)</a:t>
            </a:r>
          </a:p>
          <a:p>
            <a:pPr marL="863595" lvl="1" indent="-431797" algn="l">
              <a:lnSpc>
                <a:spcPts val="4399"/>
              </a:lnSpc>
              <a:buFont typeface="Arial"/>
              <a:buChar char="•"/>
            </a:pPr>
            <a:r>
              <a:rPr lang="en-US" sz="2000" b="1" dirty="0">
                <a:solidFill>
                  <a:srgbClr val="FFFFFF"/>
                </a:solidFill>
                <a:latin typeface="HK Grotesk Bold"/>
                <a:ea typeface="HK Grotesk Bold"/>
                <a:cs typeface="HK Grotesk Bold"/>
                <a:sym typeface="HK Grotesk Bold"/>
              </a:rPr>
              <a:t>Fake banking apps sent via WhatsApp to steal OTPs and UPI pins</a:t>
            </a:r>
          </a:p>
          <a:p>
            <a:pPr marL="863595" lvl="1" indent="-431797" algn="l">
              <a:lnSpc>
                <a:spcPts val="4399"/>
              </a:lnSpc>
              <a:buFont typeface="Arial"/>
              <a:buChar char="•"/>
            </a:pPr>
            <a:r>
              <a:rPr lang="en-US" sz="2000" b="1" dirty="0">
                <a:solidFill>
                  <a:srgbClr val="FFFFFF"/>
                </a:solidFill>
                <a:latin typeface="HK Grotesk Bold"/>
                <a:ea typeface="HK Grotesk Bold"/>
                <a:cs typeface="HK Grotesk Bold"/>
                <a:sym typeface="HK Grotesk Bold"/>
              </a:rPr>
              <a:t>Digital arrest threats with forged documents in PDF format</a:t>
            </a:r>
          </a:p>
          <a:p>
            <a:pPr marL="863595" lvl="1" indent="-431797" algn="l">
              <a:lnSpc>
                <a:spcPts val="4399"/>
              </a:lnSpc>
              <a:buFont typeface="Arial"/>
              <a:buChar char="•"/>
            </a:pPr>
            <a:r>
              <a:rPr lang="en-US" sz="2000" b="1" dirty="0">
                <a:solidFill>
                  <a:srgbClr val="FFFFFF"/>
                </a:solidFill>
                <a:latin typeface="HK Grotesk Bold"/>
                <a:ea typeface="HK Grotesk Bold"/>
                <a:cs typeface="HK Grotesk Bold"/>
                <a:sym typeface="HK Grotesk Bold"/>
              </a:rPr>
              <a:t>Malicious links disguised as government schemes or utility bill payment alerts</a:t>
            </a:r>
          </a:p>
          <a:p>
            <a:pPr marL="431798" lvl="1" algn="l">
              <a:lnSpc>
                <a:spcPts val="4399"/>
              </a:lnSpc>
            </a:pPr>
            <a:endParaRPr lang="en-US" sz="2000" b="1" dirty="0">
              <a:solidFill>
                <a:srgbClr val="FFFFFF"/>
              </a:solidFill>
              <a:latin typeface="HK Grotesk Bold"/>
              <a:ea typeface="HK Grotesk Bold"/>
              <a:cs typeface="HK Grotesk Bold"/>
              <a:sym typeface="HK Grotesk Bold"/>
            </a:endParaRPr>
          </a:p>
          <a:p>
            <a:pPr marL="888998" lvl="2">
              <a:lnSpc>
                <a:spcPts val="4399"/>
              </a:lnSpc>
            </a:pPr>
            <a:r>
              <a:rPr lang="en-US" sz="2000" b="1" dirty="0">
                <a:solidFill>
                  <a:srgbClr val="FFFFFF"/>
                </a:solidFill>
                <a:latin typeface="HK Grotesk Bold"/>
                <a:ea typeface="HK Grotesk Bold"/>
                <a:cs typeface="HK Grotesk Bold"/>
                <a:sym typeface="HK Grotesk Bold"/>
              </a:rPr>
              <a:t>Most users are unaware of these tactics and unknowingly compromise their personal data and life savings. There is a urgent need for a simple, accessible tool that can help people verify suspicious links and files before it's too late.</a:t>
            </a:r>
          </a:p>
          <a:p>
            <a:pPr marL="888998" lvl="2">
              <a:lnSpc>
                <a:spcPts val="4399"/>
              </a:lnSpc>
            </a:pPr>
            <a:r>
              <a:rPr lang="en-US" sz="2000" b="1" dirty="0">
                <a:solidFill>
                  <a:srgbClr val="FFFFFF"/>
                </a:solidFill>
                <a:latin typeface="HK Grotesk Bold"/>
                <a:ea typeface="HK Grotesk Bold"/>
                <a:cs typeface="HK Grotesk Bold"/>
                <a:sym typeface="HK Grotesk Bold"/>
              </a:rPr>
              <a:t>Target users or beneficiaries</a:t>
            </a:r>
          </a:p>
          <a:p>
            <a:pPr algn="l">
              <a:lnSpc>
                <a:spcPts val="4399"/>
              </a:lnSpc>
            </a:pPr>
            <a:endParaRPr lang="en-US" sz="2000" b="1" dirty="0">
              <a:solidFill>
                <a:srgbClr val="FFFFFF"/>
              </a:solidFill>
              <a:latin typeface="HK Grotesk Bold"/>
              <a:ea typeface="HK Grotesk Bold"/>
              <a:cs typeface="HK Grotesk Bold"/>
              <a:sym typeface="HK Grotesk Bold"/>
            </a:endParaRPr>
          </a:p>
        </p:txBody>
      </p:sp>
      <p:sp>
        <p:nvSpPr>
          <p:cNvPr id="8" name="TextBox 8"/>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a:extLst>
            <a:ext uri="{FF2B5EF4-FFF2-40B4-BE49-F238E27FC236}">
              <a16:creationId xmlns:a16="http://schemas.microsoft.com/office/drawing/2014/main" id="{8E6416E3-67D3-5AE8-D40A-B7911AAB787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67F4CC4-A29A-7D70-2D61-4623140E3662}"/>
              </a:ext>
            </a:extLst>
          </p:cNvPr>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610232CD-32A0-A77E-6FF3-0BBF454B4C68}"/>
              </a:ext>
            </a:extLst>
          </p:cNvPr>
          <p:cNvGrpSpPr/>
          <p:nvPr/>
        </p:nvGrpSpPr>
        <p:grpSpPr>
          <a:xfrm>
            <a:off x="15041993" y="441608"/>
            <a:ext cx="1317891" cy="1060450"/>
            <a:chOff x="0" y="0"/>
            <a:chExt cx="912277" cy="734070"/>
          </a:xfrm>
        </p:grpSpPr>
        <p:sp>
          <p:nvSpPr>
            <p:cNvPr id="4" name="Freeform 4">
              <a:extLst>
                <a:ext uri="{FF2B5EF4-FFF2-40B4-BE49-F238E27FC236}">
                  <a16:creationId xmlns:a16="http://schemas.microsoft.com/office/drawing/2014/main" id="{ECC4074B-2B3C-3DAB-C962-C216952A8747}"/>
                </a:ext>
              </a:extLst>
            </p:cNvPr>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5" name="Freeform 5">
            <a:extLst>
              <a:ext uri="{FF2B5EF4-FFF2-40B4-BE49-F238E27FC236}">
                <a16:creationId xmlns:a16="http://schemas.microsoft.com/office/drawing/2014/main" id="{36F17649-2201-5028-5D89-C8B72A754360}"/>
              </a:ext>
            </a:extLst>
          </p:cNvPr>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6" name="TextBox 6">
            <a:extLst>
              <a:ext uri="{FF2B5EF4-FFF2-40B4-BE49-F238E27FC236}">
                <a16:creationId xmlns:a16="http://schemas.microsoft.com/office/drawing/2014/main" id="{CA6EE8C9-AD5C-64AC-CCAE-6FA7A9B0E9A5}"/>
              </a:ext>
            </a:extLst>
          </p:cNvPr>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7" name="TextBox 7">
            <a:extLst>
              <a:ext uri="{FF2B5EF4-FFF2-40B4-BE49-F238E27FC236}">
                <a16:creationId xmlns:a16="http://schemas.microsoft.com/office/drawing/2014/main" id="{CE9C40C0-EC76-A4DB-C48E-14AEE54BD679}"/>
              </a:ext>
            </a:extLst>
          </p:cNvPr>
          <p:cNvSpPr txBox="1"/>
          <p:nvPr/>
        </p:nvSpPr>
        <p:spPr>
          <a:xfrm>
            <a:off x="5791200" y="2476500"/>
            <a:ext cx="11869208" cy="546240"/>
          </a:xfrm>
          <a:prstGeom prst="rect">
            <a:avLst/>
          </a:prstGeom>
        </p:spPr>
        <p:txBody>
          <a:bodyPr lIns="0" tIns="0" rIns="0" bIns="0" rtlCol="0" anchor="t">
            <a:spAutoFit/>
          </a:bodyPr>
          <a:lstStyle/>
          <a:p>
            <a:pPr marL="431798" lvl="1">
              <a:lnSpc>
                <a:spcPts val="4399"/>
              </a:lnSpc>
            </a:pPr>
            <a:r>
              <a:rPr lang="en-US" sz="3200" b="1" dirty="0">
                <a:solidFill>
                  <a:srgbClr val="FFFFFF"/>
                </a:solidFill>
                <a:latin typeface="HK Grotesk Bold"/>
                <a:ea typeface="HK Grotesk Bold"/>
                <a:cs typeface="HK Grotesk Bold"/>
                <a:sym typeface="HK Grotesk Bold"/>
              </a:rPr>
              <a:t>Target users or beneficiaries</a:t>
            </a:r>
          </a:p>
        </p:txBody>
      </p:sp>
      <p:sp>
        <p:nvSpPr>
          <p:cNvPr id="8" name="TextBox 8">
            <a:extLst>
              <a:ext uri="{FF2B5EF4-FFF2-40B4-BE49-F238E27FC236}">
                <a16:creationId xmlns:a16="http://schemas.microsoft.com/office/drawing/2014/main" id="{62BE47D0-A128-73F1-8FB2-FCD7DCC9996B}"/>
              </a:ext>
            </a:extLst>
          </p:cNvPr>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graphicFrame>
        <p:nvGraphicFramePr>
          <p:cNvPr id="9" name="Table 8">
            <a:extLst>
              <a:ext uri="{FF2B5EF4-FFF2-40B4-BE49-F238E27FC236}">
                <a16:creationId xmlns:a16="http://schemas.microsoft.com/office/drawing/2014/main" id="{B827695D-3EF1-BA54-2262-36EE0EA0F2E5}"/>
              </a:ext>
            </a:extLst>
          </p:cNvPr>
          <p:cNvGraphicFramePr>
            <a:graphicFrameLocks noGrp="1"/>
          </p:cNvGraphicFramePr>
          <p:nvPr>
            <p:extLst>
              <p:ext uri="{D42A27DB-BD31-4B8C-83A1-F6EECF244321}">
                <p14:modId xmlns:p14="http://schemas.microsoft.com/office/powerpoint/2010/main" val="2062352932"/>
              </p:ext>
            </p:extLst>
          </p:nvPr>
        </p:nvGraphicFramePr>
        <p:xfrm>
          <a:off x="2372284" y="3543300"/>
          <a:ext cx="13543432" cy="5531678"/>
        </p:xfrm>
        <a:graphic>
          <a:graphicData uri="http://schemas.openxmlformats.org/drawingml/2006/table">
            <a:tbl>
              <a:tblPr firstRow="1" bandRow="1">
                <a:tableStyleId>{E929F9F4-4A8F-4326-A1B4-22849713DDAB}</a:tableStyleId>
              </a:tblPr>
              <a:tblGrid>
                <a:gridCol w="6771716">
                  <a:extLst>
                    <a:ext uri="{9D8B030D-6E8A-4147-A177-3AD203B41FA5}">
                      <a16:colId xmlns:a16="http://schemas.microsoft.com/office/drawing/2014/main" val="3480093691"/>
                    </a:ext>
                  </a:extLst>
                </a:gridCol>
                <a:gridCol w="6771716">
                  <a:extLst>
                    <a:ext uri="{9D8B030D-6E8A-4147-A177-3AD203B41FA5}">
                      <a16:colId xmlns:a16="http://schemas.microsoft.com/office/drawing/2014/main" val="3095875505"/>
                    </a:ext>
                  </a:extLst>
                </a:gridCol>
              </a:tblGrid>
              <a:tr h="988398">
                <a:tc>
                  <a:txBody>
                    <a:bodyPr/>
                    <a:lstStyle/>
                    <a:p>
                      <a:pPr lvl="1" algn="ctr">
                        <a:lnSpc>
                          <a:spcPts val="1875"/>
                        </a:lnSpc>
                        <a:buNone/>
                      </a:pPr>
                      <a:r>
                        <a:rPr lang="en-IN" sz="3200" b="0" dirty="0">
                          <a:effectLst/>
                        </a:rPr>
                        <a:t>User Group</a:t>
                      </a:r>
                      <a:endParaRPr lang="en-IN" sz="3200" b="0" dirty="0">
                        <a:effectLst/>
                        <a:latin typeface="quote-cjk-patch"/>
                      </a:endParaRPr>
                    </a:p>
                  </a:txBody>
                  <a:tcPr marR="121920" marT="76200" marB="76200" anchor="ctr"/>
                </a:tc>
                <a:tc>
                  <a:txBody>
                    <a:bodyPr/>
                    <a:lstStyle/>
                    <a:p>
                      <a:pPr algn="ctr"/>
                      <a:r>
                        <a:rPr lang="en-IN" sz="3200" b="0" i="0" kern="1200" dirty="0">
                          <a:solidFill>
                            <a:schemeClr val="lt1"/>
                          </a:solidFill>
                          <a:effectLst/>
                          <a:latin typeface="+mn-lt"/>
                          <a:ea typeface="+mn-ea"/>
                          <a:cs typeface="+mn-cs"/>
                        </a:rPr>
                        <a:t>Why They Need This</a:t>
                      </a:r>
                      <a:endParaRPr lang="en-IN" sz="3200" dirty="0"/>
                    </a:p>
                  </a:txBody>
                  <a:tcPr/>
                </a:tc>
                <a:extLst>
                  <a:ext uri="{0D108BD9-81ED-4DB2-BD59-A6C34878D82A}">
                    <a16:rowId xmlns:a16="http://schemas.microsoft.com/office/drawing/2014/main" val="2260966760"/>
                  </a:ext>
                </a:extLst>
              </a:tr>
              <a:tr h="838640">
                <a:tc>
                  <a:txBody>
                    <a:bodyPr/>
                    <a:lstStyle/>
                    <a:p>
                      <a:pPr algn="ctr">
                        <a:lnSpc>
                          <a:spcPct val="100000"/>
                        </a:lnSpc>
                      </a:pPr>
                      <a:r>
                        <a:rPr lang="en-IN" sz="2800" b="1" i="0" kern="1200" dirty="0">
                          <a:solidFill>
                            <a:schemeClr val="lt1"/>
                          </a:solidFill>
                          <a:effectLst/>
                          <a:latin typeface="+mn-lt"/>
                          <a:ea typeface="+mn-ea"/>
                          <a:cs typeface="+mn-cs"/>
                        </a:rPr>
                        <a:t> Women &amp; Senior Citizens</a:t>
                      </a:r>
                      <a:endParaRPr lang="en-IN" sz="2800" dirty="0"/>
                    </a:p>
                  </a:txBody>
                  <a:tcPr/>
                </a:tc>
                <a:tc>
                  <a:txBody>
                    <a:bodyPr/>
                    <a:lstStyle/>
                    <a:p>
                      <a:r>
                        <a:rPr lang="en-US" sz="2400" b="0" i="0" kern="1200" dirty="0">
                          <a:solidFill>
                            <a:schemeClr val="lt1"/>
                          </a:solidFill>
                          <a:effectLst/>
                          <a:latin typeface="+mn-lt"/>
                          <a:ea typeface="+mn-ea"/>
                          <a:cs typeface="+mn-cs"/>
                        </a:rPr>
                        <a:t>Most targeted by emotional manipulation and fake video scams; often less familiar with technical safety measures</a:t>
                      </a:r>
                      <a:endParaRPr lang="en-IN" sz="2400" dirty="0"/>
                    </a:p>
                  </a:txBody>
                  <a:tcPr/>
                </a:tc>
                <a:extLst>
                  <a:ext uri="{0D108BD9-81ED-4DB2-BD59-A6C34878D82A}">
                    <a16:rowId xmlns:a16="http://schemas.microsoft.com/office/drawing/2014/main" val="1766368254"/>
                  </a:ext>
                </a:extLst>
              </a:tr>
              <a:tr h="838640">
                <a:tc>
                  <a:txBody>
                    <a:bodyPr/>
                    <a:lstStyle/>
                    <a:p>
                      <a:pPr algn="ctr"/>
                      <a:r>
                        <a:rPr lang="en-IN" sz="2800" b="1" i="0" kern="1200" dirty="0">
                          <a:solidFill>
                            <a:schemeClr val="lt1"/>
                          </a:solidFill>
                          <a:effectLst/>
                          <a:latin typeface="+mn-lt"/>
                          <a:ea typeface="+mn-ea"/>
                          <a:cs typeface="+mn-cs"/>
                        </a:rPr>
                        <a:t>First-time Internet Users</a:t>
                      </a:r>
                      <a:endParaRPr lang="en-IN" sz="2800" dirty="0"/>
                    </a:p>
                  </a:txBody>
                  <a:tcPr/>
                </a:tc>
                <a:tc>
                  <a:txBody>
                    <a:bodyPr/>
                    <a:lstStyle/>
                    <a:p>
                      <a:r>
                        <a:rPr lang="en-US" sz="2400" b="0" i="0" kern="1200" dirty="0">
                          <a:solidFill>
                            <a:schemeClr val="lt1"/>
                          </a:solidFill>
                          <a:effectLst/>
                          <a:latin typeface="+mn-lt"/>
                          <a:ea typeface="+mn-ea"/>
                          <a:cs typeface="+mn-cs"/>
                        </a:rPr>
                        <a:t>Vulnerable to phishing links and fake APKs due to lack of awareness</a:t>
                      </a:r>
                      <a:endParaRPr lang="en-IN" sz="2400" dirty="0"/>
                    </a:p>
                  </a:txBody>
                  <a:tcPr/>
                </a:tc>
                <a:extLst>
                  <a:ext uri="{0D108BD9-81ED-4DB2-BD59-A6C34878D82A}">
                    <a16:rowId xmlns:a16="http://schemas.microsoft.com/office/drawing/2014/main" val="440623023"/>
                  </a:ext>
                </a:extLst>
              </a:tr>
              <a:tr h="838640">
                <a:tc>
                  <a:txBody>
                    <a:bodyPr/>
                    <a:lstStyle/>
                    <a:p>
                      <a:pPr algn="ctr"/>
                      <a:r>
                        <a:rPr lang="en-IN" sz="2800" b="1" i="0" kern="1200" dirty="0">
                          <a:solidFill>
                            <a:schemeClr val="lt1"/>
                          </a:solidFill>
                          <a:effectLst/>
                          <a:latin typeface="+mn-lt"/>
                          <a:ea typeface="+mn-ea"/>
                          <a:cs typeface="+mn-cs"/>
                        </a:rPr>
                        <a:t>Students &amp; Young Adults</a:t>
                      </a:r>
                      <a:endParaRPr lang="en-IN" sz="2800" dirty="0"/>
                    </a:p>
                  </a:txBody>
                  <a:tcPr/>
                </a:tc>
                <a:tc>
                  <a:txBody>
                    <a:bodyPr/>
                    <a:lstStyle/>
                    <a:p>
                      <a:r>
                        <a:rPr lang="en-US" sz="2400" b="0" i="0" kern="1200" dirty="0">
                          <a:solidFill>
                            <a:schemeClr val="lt1"/>
                          </a:solidFill>
                          <a:effectLst/>
                          <a:latin typeface="+mn-lt"/>
                          <a:ea typeface="+mn-ea"/>
                          <a:cs typeface="+mn-cs"/>
                        </a:rPr>
                        <a:t>Active on social media and exposed to viral scam links daily</a:t>
                      </a:r>
                      <a:endParaRPr lang="en-IN" sz="2400" dirty="0"/>
                    </a:p>
                  </a:txBody>
                  <a:tcPr/>
                </a:tc>
                <a:extLst>
                  <a:ext uri="{0D108BD9-81ED-4DB2-BD59-A6C34878D82A}">
                    <a16:rowId xmlns:a16="http://schemas.microsoft.com/office/drawing/2014/main" val="1671689560"/>
                  </a:ext>
                </a:extLst>
              </a:tr>
              <a:tr h="838640">
                <a:tc>
                  <a:txBody>
                    <a:bodyPr/>
                    <a:lstStyle/>
                    <a:p>
                      <a:pPr algn="ctr"/>
                      <a:r>
                        <a:rPr lang="en-IN" sz="2800" b="1" i="0" kern="1200" dirty="0">
                          <a:solidFill>
                            <a:schemeClr val="lt1"/>
                          </a:solidFill>
                          <a:effectLst/>
                          <a:latin typeface="+mn-lt"/>
                          <a:ea typeface="+mn-ea"/>
                          <a:cs typeface="+mn-cs"/>
                        </a:rPr>
                        <a:t>Small Business Owners</a:t>
                      </a:r>
                      <a:endParaRPr lang="en-IN" sz="2800" dirty="0"/>
                    </a:p>
                  </a:txBody>
                  <a:tcPr/>
                </a:tc>
                <a:tc>
                  <a:txBody>
                    <a:bodyPr/>
                    <a:lstStyle/>
                    <a:p>
                      <a:r>
                        <a:rPr lang="en-US" sz="2400" b="0" i="0" kern="1200" dirty="0">
                          <a:solidFill>
                            <a:schemeClr val="lt1"/>
                          </a:solidFill>
                          <a:effectLst/>
                          <a:latin typeface="+mn-lt"/>
                          <a:ea typeface="+mn-ea"/>
                          <a:cs typeface="+mn-cs"/>
                        </a:rPr>
                        <a:t>Receive fraudulent payment links and fake order PDFs</a:t>
                      </a:r>
                      <a:endParaRPr lang="en-IN" sz="2400" dirty="0"/>
                    </a:p>
                  </a:txBody>
                  <a:tcPr/>
                </a:tc>
                <a:extLst>
                  <a:ext uri="{0D108BD9-81ED-4DB2-BD59-A6C34878D82A}">
                    <a16:rowId xmlns:a16="http://schemas.microsoft.com/office/drawing/2014/main" val="3243552224"/>
                  </a:ext>
                </a:extLst>
              </a:tr>
              <a:tr h="838640">
                <a:tc>
                  <a:txBody>
                    <a:bodyPr/>
                    <a:lstStyle/>
                    <a:p>
                      <a:pPr algn="ctr"/>
                      <a:r>
                        <a:rPr lang="en-IN" sz="2800" b="1" i="0" kern="1200" dirty="0">
                          <a:solidFill>
                            <a:schemeClr val="lt1"/>
                          </a:solidFill>
                          <a:effectLst/>
                          <a:latin typeface="+mn-lt"/>
                          <a:ea typeface="+mn-ea"/>
                          <a:cs typeface="+mn-cs"/>
                        </a:rPr>
                        <a:t>General Public</a:t>
                      </a:r>
                      <a:endParaRPr lang="en-IN" sz="2800" dirty="0"/>
                    </a:p>
                  </a:txBody>
                  <a:tcPr/>
                </a:tc>
                <a:tc>
                  <a:txBody>
                    <a:bodyPr/>
                    <a:lstStyle/>
                    <a:p>
                      <a:r>
                        <a:rPr lang="en-US" sz="2400" b="0" i="0" kern="1200" dirty="0">
                          <a:solidFill>
                            <a:schemeClr val="lt1"/>
                          </a:solidFill>
                          <a:effectLst/>
                          <a:latin typeface="+mn-lt"/>
                          <a:ea typeface="+mn-ea"/>
                          <a:cs typeface="+mn-cs"/>
                        </a:rPr>
                        <a:t>Anyone with a smartphone and UPI/banking apps is at risk</a:t>
                      </a:r>
                      <a:endParaRPr lang="en-IN" sz="2400" dirty="0"/>
                    </a:p>
                  </a:txBody>
                  <a:tcPr/>
                </a:tc>
                <a:extLst>
                  <a:ext uri="{0D108BD9-81ED-4DB2-BD59-A6C34878D82A}">
                    <a16:rowId xmlns:a16="http://schemas.microsoft.com/office/drawing/2014/main" val="3028770320"/>
                  </a:ext>
                </a:extLst>
              </a:tr>
            </a:tbl>
          </a:graphicData>
        </a:graphic>
      </p:graphicFrame>
    </p:spTree>
    <p:extLst>
      <p:ext uri="{BB962C8B-B14F-4D97-AF65-F5344CB8AC3E}">
        <p14:creationId xmlns:p14="http://schemas.microsoft.com/office/powerpoint/2010/main" val="2814918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TextBox 2"/>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3" name="Freeform 3"/>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660468" y="1943100"/>
            <a:ext cx="14598832" cy="7471212"/>
          </a:xfrm>
          <a:prstGeom prst="rect">
            <a:avLst/>
          </a:prstGeom>
        </p:spPr>
        <p:txBody>
          <a:bodyPr wrap="square" lIns="0" tIns="0" rIns="0" bIns="0" rtlCol="0" anchor="t">
            <a:spAutoFit/>
          </a:bodyPr>
          <a:lstStyle/>
          <a:p>
            <a:pPr algn="l">
              <a:lnSpc>
                <a:spcPts val="4399"/>
              </a:lnSpc>
            </a:pPr>
            <a:r>
              <a:rPr lang="en-US" sz="3600" b="1" dirty="0">
                <a:solidFill>
                  <a:srgbClr val="FFFFFF"/>
                </a:solidFill>
                <a:latin typeface="HK Grotesk Bold"/>
                <a:ea typeface="HK Grotesk Bold"/>
                <a:cs typeface="HK Grotesk Bold"/>
                <a:sym typeface="HK Grotesk Bold"/>
              </a:rPr>
              <a:t>Solution Overview</a:t>
            </a:r>
          </a:p>
          <a:p>
            <a:r>
              <a:rPr lang="en-US" sz="3200" b="1" dirty="0">
                <a:solidFill>
                  <a:srgbClr val="FFFFFF"/>
                </a:solidFill>
                <a:latin typeface="HK Grotesk Bold"/>
                <a:ea typeface="HK Grotesk Bold"/>
                <a:cs typeface="HK Grotesk Bold"/>
                <a:sym typeface="HK Grotesk Bold"/>
              </a:rPr>
              <a:t>Short explanation of the proposed solution:</a:t>
            </a:r>
            <a:br>
              <a:rPr lang="en-US" sz="2800" b="1" dirty="0">
                <a:solidFill>
                  <a:srgbClr val="FFFFFF"/>
                </a:solidFill>
                <a:latin typeface="HK Grotesk Bold"/>
                <a:ea typeface="HK Grotesk Bold"/>
                <a:cs typeface="HK Grotesk Bold"/>
                <a:sym typeface="HK Grotesk Bold"/>
              </a:rPr>
            </a:br>
            <a:r>
              <a:rPr lang="en-US" sz="2400" b="1" dirty="0">
                <a:solidFill>
                  <a:srgbClr val="FFFFFF"/>
                </a:solidFill>
                <a:latin typeface="HK Grotesk Bold"/>
                <a:ea typeface="HK Grotesk Bold"/>
                <a:cs typeface="HK Grotesk Bold"/>
                <a:sym typeface="HK Grotesk Bold"/>
              </a:rPr>
              <a:t>The File Analyzer Application is an Android-based security system that scans and analyzes different types of files such as images, videos, documents, APKs, and audio files. The system uses an automated scan engine with static analysis to detect suspicious patterns and classify files as Safe or Malicious. A backend monitoring agent continuously observes the scanning process and sends notifications to users when threats are detected. Scan results are stored in Local History, and highly suspicious files can be forwarded to an external analysis server for deeper inspection</a:t>
            </a:r>
          </a:p>
          <a:p>
            <a:endParaRPr lang="en-US" sz="2400" b="1" dirty="0">
              <a:solidFill>
                <a:srgbClr val="FFFFFF"/>
              </a:solidFill>
              <a:latin typeface="HK Grotesk Bold"/>
              <a:ea typeface="HK Grotesk Bold"/>
              <a:cs typeface="HK Grotesk Bold"/>
              <a:sym typeface="HK Grotesk Bold"/>
            </a:endParaRPr>
          </a:p>
          <a:p>
            <a:r>
              <a:rPr lang="en-US" sz="3200" b="1" dirty="0">
                <a:solidFill>
                  <a:srgbClr val="FFFFFF"/>
                </a:solidFill>
                <a:latin typeface="HK Grotesk Bold"/>
                <a:ea typeface="HK Grotesk Bold"/>
                <a:cs typeface="HK Grotesk Bold"/>
                <a:sym typeface="HK Grotesk Bold"/>
              </a:rPr>
              <a:t>Key features or capabilities of the system</a:t>
            </a:r>
          </a:p>
          <a:p>
            <a:pPr lvl="1">
              <a:lnSpc>
                <a:spcPts val="4399"/>
              </a:lnSpc>
              <a:spcBef>
                <a:spcPct val="0"/>
              </a:spcBef>
            </a:pPr>
            <a:r>
              <a:rPr lang="en-US" sz="2400" b="1" dirty="0">
                <a:solidFill>
                  <a:srgbClr val="FFFFFF"/>
                </a:solidFill>
                <a:latin typeface="HK Grotesk Bold"/>
                <a:ea typeface="HK Grotesk Bold"/>
                <a:cs typeface="HK Grotesk Bold"/>
                <a:sym typeface="HK Grotesk Bold"/>
              </a:rPr>
              <a:t>• Multi-format file analysis – Scans images, videos, documents, APK files, and audio files.</a:t>
            </a:r>
          </a:p>
          <a:p>
            <a:pPr lvl="1">
              <a:lnSpc>
                <a:spcPts val="4399"/>
              </a:lnSpc>
              <a:spcBef>
                <a:spcPct val="0"/>
              </a:spcBef>
            </a:pPr>
            <a:r>
              <a:rPr lang="en-US" sz="2400" b="1" dirty="0">
                <a:solidFill>
                  <a:srgbClr val="FFFFFF"/>
                </a:solidFill>
                <a:latin typeface="HK Grotesk Bold"/>
                <a:ea typeface="HK Grotesk Bold"/>
                <a:cs typeface="HK Grotesk Bold"/>
                <a:sym typeface="HK Grotesk Bold"/>
              </a:rPr>
              <a:t>• Automatic scan engine – Automatically analyzes uploaded files using static analysis techniques.</a:t>
            </a:r>
          </a:p>
          <a:p>
            <a:pPr lvl="1">
              <a:lnSpc>
                <a:spcPts val="4399"/>
              </a:lnSpc>
              <a:spcBef>
                <a:spcPct val="0"/>
              </a:spcBef>
            </a:pPr>
            <a:r>
              <a:rPr lang="en-US" sz="2400" b="1" dirty="0">
                <a:solidFill>
                  <a:srgbClr val="FFFFFF"/>
                </a:solidFill>
                <a:latin typeface="HK Grotesk Bold"/>
                <a:ea typeface="HK Grotesk Bold"/>
                <a:cs typeface="HK Grotesk Bold"/>
                <a:sym typeface="HK Grotesk Bold"/>
              </a:rPr>
              <a:t>• Threat detection – Classifies files as Safe or Malicious based on detected patterns.</a:t>
            </a:r>
          </a:p>
          <a:p>
            <a:pPr lvl="1">
              <a:lnSpc>
                <a:spcPts val="4399"/>
              </a:lnSpc>
              <a:spcBef>
                <a:spcPct val="0"/>
              </a:spcBef>
            </a:pPr>
            <a:r>
              <a:rPr lang="en-US" sz="2400" b="1" dirty="0">
                <a:solidFill>
                  <a:srgbClr val="FFFFFF"/>
                </a:solidFill>
                <a:latin typeface="HK Grotesk Bold"/>
                <a:ea typeface="HK Grotesk Bold"/>
                <a:cs typeface="HK Grotesk Bold"/>
                <a:sym typeface="HK Grotesk Bold"/>
              </a:rPr>
              <a:t>• Backend monitoring agent – Continuously monitors scans and sends security notifications to the user.</a:t>
            </a:r>
          </a:p>
          <a:p>
            <a:pPr lvl="1">
              <a:lnSpc>
                <a:spcPts val="4399"/>
              </a:lnSpc>
              <a:spcBef>
                <a:spcPct val="0"/>
              </a:spcBef>
            </a:pPr>
            <a:r>
              <a:rPr lang="en-US" sz="2400" b="1" dirty="0">
                <a:solidFill>
                  <a:srgbClr val="FFFFFF"/>
                </a:solidFill>
                <a:latin typeface="HK Grotesk Bold"/>
                <a:ea typeface="HK Grotesk Bold"/>
                <a:cs typeface="HK Grotesk Bold"/>
                <a:sym typeface="HK Grotesk Bold"/>
              </a:rPr>
              <a:t>• Secure result management – Stores scan results in local history and forwards suspicious files for deeper analysis</a:t>
            </a:r>
          </a:p>
        </p:txBody>
      </p:sp>
      <p:sp>
        <p:nvSpPr>
          <p:cNvPr id="5" name="TextBox 5"/>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grpSp>
        <p:nvGrpSpPr>
          <p:cNvPr id="6" name="Group 6"/>
          <p:cNvGrpSpPr/>
          <p:nvPr/>
        </p:nvGrpSpPr>
        <p:grpSpPr>
          <a:xfrm>
            <a:off x="15041993" y="441608"/>
            <a:ext cx="1317891" cy="1060450"/>
            <a:chOff x="0" y="0"/>
            <a:chExt cx="912277" cy="734070"/>
          </a:xfrm>
        </p:grpSpPr>
        <p:sp>
          <p:nvSpPr>
            <p:cNvPr id="7" name="Freeform 7"/>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8" name="Freeform 8"/>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TextBox 2"/>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3" name="Freeform 3"/>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3146244" y="1558925"/>
            <a:ext cx="12786439" cy="8415061"/>
          </a:xfrm>
          <a:prstGeom prst="rect">
            <a:avLst/>
          </a:prstGeom>
        </p:spPr>
        <p:txBody>
          <a:bodyPr lIns="0" tIns="0" rIns="0" bIns="0" rtlCol="0" anchor="t">
            <a:spAutoFit/>
          </a:bodyPr>
          <a:lstStyle/>
          <a:p>
            <a:pPr algn="l">
              <a:lnSpc>
                <a:spcPts val="4399"/>
              </a:lnSpc>
            </a:pPr>
            <a:r>
              <a:rPr lang="en-US" sz="2800" b="1" dirty="0">
                <a:solidFill>
                  <a:srgbClr val="FFFFFF"/>
                </a:solidFill>
                <a:latin typeface="HK Grotesk Bold"/>
                <a:ea typeface="HK Grotesk Bold"/>
                <a:cs typeface="HK Grotesk Bold"/>
                <a:sym typeface="HK Grotesk Bold"/>
              </a:rPr>
              <a:t>Prototype Overview</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Explanation of the current prototype</a:t>
            </a:r>
            <a:br>
              <a:rPr lang="en-US" sz="2400" b="1" dirty="0">
                <a:solidFill>
                  <a:srgbClr val="FFFFFF"/>
                </a:solidFill>
                <a:latin typeface="HK Grotesk Bold"/>
                <a:ea typeface="HK Grotesk Bold"/>
                <a:cs typeface="HK Grotesk Bold"/>
                <a:sym typeface="HK Grotesk Bold"/>
              </a:rPr>
            </a:br>
            <a:r>
              <a:rPr lang="en-US" sz="2400" b="1" dirty="0">
                <a:solidFill>
                  <a:srgbClr val="FFFFFF"/>
                </a:solidFill>
                <a:latin typeface="HK Grotesk Bold"/>
                <a:ea typeface="HK Grotesk Bold"/>
                <a:cs typeface="HK Grotesk Bold"/>
                <a:sym typeface="HK Grotesk Bold"/>
              </a:rPr>
              <a:t>Our prototype is an Android application that analyzes different types of files such as images, audio, video, documents, and APK files. The app scans the selected file and checks for potential threats. After the analysis, it classifies the file as Safe, Suspicious, or Malicious to help users avoid cyber threats.</a:t>
            </a:r>
          </a:p>
          <a:p>
            <a:pPr marL="431798" lvl="1" algn="l">
              <a:lnSpc>
                <a:spcPts val="4399"/>
              </a:lnSpc>
              <a:spcBef>
                <a:spcPct val="0"/>
              </a:spcBef>
            </a:pPr>
            <a:endParaRPr lang="en-US" sz="2400" b="1" dirty="0">
              <a:solidFill>
                <a:srgbClr val="FFFFFF"/>
              </a:solidFill>
              <a:latin typeface="HK Grotesk Bold"/>
              <a:ea typeface="HK Grotesk Bold"/>
              <a:cs typeface="HK Grotesk Bold"/>
              <a:sym typeface="HK Grotesk Bold"/>
            </a:endParaRPr>
          </a:p>
          <a:p>
            <a:pPr marL="431798" lvl="1" algn="l">
              <a:lnSpc>
                <a:spcPts val="4399"/>
              </a:lnSpc>
              <a:spcBef>
                <a:spcPct val="0"/>
              </a:spcBef>
            </a:pPr>
            <a:r>
              <a:rPr lang="en-US" sz="2400" b="1" dirty="0">
                <a:solidFill>
                  <a:srgbClr val="FFFFFF"/>
                </a:solidFill>
                <a:latin typeface="HK Grotesk Bold"/>
                <a:ea typeface="HK Grotesk Bold"/>
                <a:cs typeface="HK Grotesk Bold"/>
                <a:sym typeface="HK Grotesk Bold"/>
              </a:rPr>
              <a:t>Implemented Components</a:t>
            </a:r>
          </a:p>
          <a:p>
            <a:pPr marL="431798" lvl="1" algn="l">
              <a:lnSpc>
                <a:spcPts val="4399"/>
              </a:lnSpc>
              <a:spcBef>
                <a:spcPct val="0"/>
              </a:spcBef>
            </a:pPr>
            <a:r>
              <a:rPr lang="en-US" sz="2400" b="1" dirty="0">
                <a:solidFill>
                  <a:srgbClr val="FFFFFF"/>
                </a:solidFill>
                <a:latin typeface="HK Grotesk Bold"/>
                <a:ea typeface="HK Grotesk Bold"/>
                <a:cs typeface="HK Grotesk Bold"/>
                <a:sym typeface="HK Grotesk Bold"/>
              </a:rPr>
              <a:t>1. Application Interface</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Simple Android UI built using Kotlin and Java.</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Users can upload or select files from their device.</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Displays analysis results as Safe / Suspicious / Malicious.</a:t>
            </a:r>
          </a:p>
          <a:p>
            <a:pPr marL="863595" lvl="1" indent="-431797" algn="l">
              <a:lnSpc>
                <a:spcPts val="4399"/>
              </a:lnSpc>
              <a:spcBef>
                <a:spcPct val="0"/>
              </a:spcBef>
              <a:buFont typeface="Arial"/>
              <a:buChar char="•"/>
            </a:pPr>
            <a:endParaRPr lang="en-US" sz="2400" b="1" dirty="0">
              <a:solidFill>
                <a:srgbClr val="FFFFFF"/>
              </a:solidFill>
              <a:latin typeface="HK Grotesk Bold"/>
              <a:ea typeface="HK Grotesk Bold"/>
              <a:cs typeface="HK Grotesk Bold"/>
              <a:sym typeface="HK Grotesk Bold"/>
            </a:endParaRPr>
          </a:p>
          <a:p>
            <a:pPr marL="431798" lvl="1" algn="l">
              <a:lnSpc>
                <a:spcPts val="4399"/>
              </a:lnSpc>
              <a:spcBef>
                <a:spcPct val="0"/>
              </a:spcBef>
            </a:pPr>
            <a:r>
              <a:rPr lang="en-US" sz="2400" b="1" dirty="0">
                <a:solidFill>
                  <a:srgbClr val="FFFFFF"/>
                </a:solidFill>
                <a:latin typeface="HK Grotesk Bold"/>
                <a:ea typeface="HK Grotesk Bold"/>
                <a:cs typeface="HK Grotesk Bold"/>
                <a:sym typeface="HK Grotesk Bold"/>
              </a:rPr>
              <a:t>2. Hardware Setup</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Runs on Android smartphones.</a:t>
            </a:r>
          </a:p>
        </p:txBody>
      </p:sp>
      <p:sp>
        <p:nvSpPr>
          <p:cNvPr id="5" name="TextBox 5"/>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grpSp>
        <p:nvGrpSpPr>
          <p:cNvPr id="6" name="Group 6"/>
          <p:cNvGrpSpPr/>
          <p:nvPr/>
        </p:nvGrpSpPr>
        <p:grpSpPr>
          <a:xfrm>
            <a:off x="15041993" y="441608"/>
            <a:ext cx="1317891" cy="1060450"/>
            <a:chOff x="0" y="0"/>
            <a:chExt cx="912277" cy="734070"/>
          </a:xfrm>
        </p:grpSpPr>
        <p:sp>
          <p:nvSpPr>
            <p:cNvPr id="7" name="Freeform 7"/>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8" name="Freeform 8"/>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a:extLst>
            <a:ext uri="{FF2B5EF4-FFF2-40B4-BE49-F238E27FC236}">
              <a16:creationId xmlns:a16="http://schemas.microsoft.com/office/drawing/2014/main" id="{85D29539-993D-2F7A-FD1D-1E5A95AA331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5318DA0-3587-41F7-0F64-916FC3F3BF20}"/>
              </a:ext>
            </a:extLst>
          </p:cNvPr>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3" name="Freeform 3">
            <a:extLst>
              <a:ext uri="{FF2B5EF4-FFF2-40B4-BE49-F238E27FC236}">
                <a16:creationId xmlns:a16="http://schemas.microsoft.com/office/drawing/2014/main" id="{D89131E3-BF8C-14FA-3E1B-E19531A4D721}"/>
              </a:ext>
            </a:extLst>
          </p:cNvPr>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a:extLst>
              <a:ext uri="{FF2B5EF4-FFF2-40B4-BE49-F238E27FC236}">
                <a16:creationId xmlns:a16="http://schemas.microsoft.com/office/drawing/2014/main" id="{68488AC5-298F-26B8-DE8D-B79C6E84E767}"/>
              </a:ext>
            </a:extLst>
          </p:cNvPr>
          <p:cNvSpPr txBox="1"/>
          <p:nvPr/>
        </p:nvSpPr>
        <p:spPr>
          <a:xfrm>
            <a:off x="3146244" y="1558925"/>
            <a:ext cx="12786439" cy="7091621"/>
          </a:xfrm>
          <a:prstGeom prst="rect">
            <a:avLst/>
          </a:prstGeom>
        </p:spPr>
        <p:txBody>
          <a:bodyPr lIns="0" tIns="0" rIns="0" bIns="0" rtlCol="0" anchor="t">
            <a:spAutoFit/>
          </a:bodyPr>
          <a:lstStyle/>
          <a:p>
            <a:pPr algn="l">
              <a:lnSpc>
                <a:spcPts val="4399"/>
              </a:lnSpc>
            </a:pPr>
            <a:r>
              <a:rPr lang="en-US" sz="2800" b="1" dirty="0">
                <a:solidFill>
                  <a:srgbClr val="FFFFFF"/>
                </a:solidFill>
                <a:latin typeface="HK Grotesk Bold"/>
                <a:ea typeface="HK Grotesk Bold"/>
                <a:cs typeface="HK Grotesk Bold"/>
                <a:sym typeface="HK Grotesk Bold"/>
              </a:rPr>
              <a:t>Prototype Overview</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Uses the device storage to access and scan files.</a:t>
            </a:r>
          </a:p>
          <a:p>
            <a:pPr marL="431798" lvl="1" algn="l">
              <a:lnSpc>
                <a:spcPts val="4399"/>
              </a:lnSpc>
              <a:spcBef>
                <a:spcPct val="0"/>
              </a:spcBef>
            </a:pPr>
            <a:endParaRPr lang="en-US" sz="2400" b="1" dirty="0">
              <a:solidFill>
                <a:srgbClr val="FFFFFF"/>
              </a:solidFill>
              <a:latin typeface="HK Grotesk Bold"/>
              <a:ea typeface="HK Grotesk Bold"/>
              <a:cs typeface="HK Grotesk Bold"/>
              <a:sym typeface="HK Grotesk Bold"/>
            </a:endParaRPr>
          </a:p>
          <a:p>
            <a:pPr marL="431798" lvl="1" algn="l">
              <a:spcBef>
                <a:spcPct val="0"/>
              </a:spcBef>
            </a:pPr>
            <a:r>
              <a:rPr lang="en-US" sz="2400" b="1" dirty="0">
                <a:solidFill>
                  <a:srgbClr val="FFFFFF"/>
                </a:solidFill>
                <a:latin typeface="HK Grotesk Bold"/>
                <a:ea typeface="HK Grotesk Bold"/>
                <a:cs typeface="HK Grotesk Bold"/>
                <a:sym typeface="HK Grotesk Bold"/>
              </a:rPr>
              <a:t>3. Circuit Design</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Not applicable as the project is software-based.</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The system architecture focuses on software modules and file processing.</a:t>
            </a:r>
          </a:p>
          <a:p>
            <a:pPr marL="863595" lvl="1" indent="-431797" algn="l">
              <a:lnSpc>
                <a:spcPts val="4399"/>
              </a:lnSpc>
              <a:spcBef>
                <a:spcPct val="0"/>
              </a:spcBef>
              <a:buFont typeface="Arial"/>
              <a:buChar char="•"/>
            </a:pPr>
            <a:endParaRPr lang="en-US" sz="2400" b="1" dirty="0">
              <a:solidFill>
                <a:srgbClr val="FFFFFF"/>
              </a:solidFill>
              <a:latin typeface="HK Grotesk Bold"/>
              <a:ea typeface="HK Grotesk Bold"/>
              <a:cs typeface="HK Grotesk Bold"/>
              <a:sym typeface="HK Grotesk Bold"/>
            </a:endParaRPr>
          </a:p>
          <a:p>
            <a:pPr marL="431798" lvl="1" algn="l">
              <a:lnSpc>
                <a:spcPts val="4399"/>
              </a:lnSpc>
              <a:spcBef>
                <a:spcPct val="0"/>
              </a:spcBef>
            </a:pPr>
            <a:r>
              <a:rPr lang="en-US" sz="2400" b="1" dirty="0">
                <a:solidFill>
                  <a:srgbClr val="FFFFFF"/>
                </a:solidFill>
                <a:latin typeface="HK Grotesk Bold"/>
                <a:ea typeface="HK Grotesk Bold"/>
                <a:cs typeface="HK Grotesk Bold"/>
                <a:sym typeface="HK Grotesk Bold"/>
              </a:rPr>
              <a:t>4. System Modules</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File Upload Module – Allows users to select files from the device.</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File </a:t>
            </a:r>
            <a:r>
              <a:rPr lang="en-US" sz="2400" b="1" dirty="0" err="1">
                <a:solidFill>
                  <a:srgbClr val="FFFFFF"/>
                </a:solidFill>
                <a:latin typeface="HK Grotesk Bold"/>
                <a:ea typeface="HK Grotesk Bold"/>
                <a:cs typeface="HK Grotesk Bold"/>
                <a:sym typeface="HK Grotesk Bold"/>
              </a:rPr>
              <a:t>ScannerModule</a:t>
            </a:r>
            <a:r>
              <a:rPr lang="en-US" sz="2400" b="1" dirty="0">
                <a:solidFill>
                  <a:srgbClr val="FFFFFF"/>
                </a:solidFill>
                <a:latin typeface="HK Grotesk Bold"/>
                <a:ea typeface="HK Grotesk Bold"/>
                <a:cs typeface="HK Grotesk Bold"/>
                <a:sym typeface="HK Grotesk Bold"/>
              </a:rPr>
              <a:t> – Performs analysis on image, audio, video, document, and APK files.</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Threat Detection Module – Checks patterns and identifies suspicious content.</a:t>
            </a:r>
          </a:p>
          <a:p>
            <a:pPr marL="863595" lvl="1" indent="-431797" algn="l">
              <a:lnSpc>
                <a:spcPts val="4399"/>
              </a:lnSpc>
              <a:spcBef>
                <a:spcPct val="0"/>
              </a:spcBef>
              <a:buFont typeface="Arial"/>
              <a:buChar char="•"/>
            </a:pPr>
            <a:r>
              <a:rPr lang="en-US" sz="2400" b="1" dirty="0">
                <a:solidFill>
                  <a:srgbClr val="FFFFFF"/>
                </a:solidFill>
                <a:latin typeface="HK Grotesk Bold"/>
                <a:ea typeface="HK Grotesk Bold"/>
                <a:cs typeface="HK Grotesk Bold"/>
                <a:sym typeface="HK Grotesk Bold"/>
              </a:rPr>
              <a:t>Result Display Module – Shows whether the file is Safe, Suspicious, or Malicious</a:t>
            </a:r>
          </a:p>
        </p:txBody>
      </p:sp>
      <p:sp>
        <p:nvSpPr>
          <p:cNvPr id="5" name="TextBox 5">
            <a:extLst>
              <a:ext uri="{FF2B5EF4-FFF2-40B4-BE49-F238E27FC236}">
                <a16:creationId xmlns:a16="http://schemas.microsoft.com/office/drawing/2014/main" id="{B600153D-10AC-BCDB-A35D-84D3C19E9B01}"/>
              </a:ext>
            </a:extLst>
          </p:cNvPr>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grpSp>
        <p:nvGrpSpPr>
          <p:cNvPr id="6" name="Group 6">
            <a:extLst>
              <a:ext uri="{FF2B5EF4-FFF2-40B4-BE49-F238E27FC236}">
                <a16:creationId xmlns:a16="http://schemas.microsoft.com/office/drawing/2014/main" id="{1BD18B04-9807-171D-679F-7A10ED7EEC81}"/>
              </a:ext>
            </a:extLst>
          </p:cNvPr>
          <p:cNvGrpSpPr/>
          <p:nvPr/>
        </p:nvGrpSpPr>
        <p:grpSpPr>
          <a:xfrm>
            <a:off x="15041993" y="441608"/>
            <a:ext cx="1317891" cy="1060450"/>
            <a:chOff x="0" y="0"/>
            <a:chExt cx="912277" cy="734070"/>
          </a:xfrm>
        </p:grpSpPr>
        <p:sp>
          <p:nvSpPr>
            <p:cNvPr id="7" name="Freeform 7">
              <a:extLst>
                <a:ext uri="{FF2B5EF4-FFF2-40B4-BE49-F238E27FC236}">
                  <a16:creationId xmlns:a16="http://schemas.microsoft.com/office/drawing/2014/main" id="{34076130-50D4-7539-1AEA-F5D82F65B938}"/>
                </a:ext>
              </a:extLst>
            </p:cNvPr>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8" name="Freeform 8">
            <a:extLst>
              <a:ext uri="{FF2B5EF4-FFF2-40B4-BE49-F238E27FC236}">
                <a16:creationId xmlns:a16="http://schemas.microsoft.com/office/drawing/2014/main" id="{72531130-5B88-47F1-90C2-EB7B36A2B217}"/>
              </a:ext>
            </a:extLst>
          </p:cNvPr>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Tree>
    <p:extLst>
      <p:ext uri="{BB962C8B-B14F-4D97-AF65-F5344CB8AC3E}">
        <p14:creationId xmlns:p14="http://schemas.microsoft.com/office/powerpoint/2010/main" val="3355235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TextBox 2"/>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3" name="Freeform 3"/>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3581400" y="1597025"/>
            <a:ext cx="12327564" cy="1705467"/>
          </a:xfrm>
          <a:prstGeom prst="rect">
            <a:avLst/>
          </a:prstGeom>
        </p:spPr>
        <p:txBody>
          <a:bodyPr wrap="square" lIns="0" tIns="0" rIns="0" bIns="0" rtlCol="0" anchor="t">
            <a:spAutoFit/>
          </a:bodyPr>
          <a:lstStyle/>
          <a:p>
            <a:pPr algn="l">
              <a:lnSpc>
                <a:spcPts val="4399"/>
              </a:lnSpc>
              <a:spcBef>
                <a:spcPct val="0"/>
              </a:spcBef>
            </a:pPr>
            <a:r>
              <a:rPr lang="en-US" sz="3999" b="1" dirty="0">
                <a:solidFill>
                  <a:srgbClr val="FFFFFF"/>
                </a:solidFill>
                <a:latin typeface="HK Grotesk Bold"/>
                <a:ea typeface="HK Grotesk Bold"/>
                <a:cs typeface="HK Grotesk Bold"/>
                <a:sym typeface="HK Grotesk Bold"/>
              </a:rPr>
              <a:t>Prototype Demonstration</a:t>
            </a:r>
          </a:p>
          <a:p>
            <a:pPr algn="l">
              <a:lnSpc>
                <a:spcPts val="4399"/>
              </a:lnSpc>
              <a:spcBef>
                <a:spcPct val="0"/>
              </a:spcBef>
            </a:pPr>
            <a:r>
              <a:rPr lang="en-US" sz="3999" b="1" dirty="0">
                <a:solidFill>
                  <a:srgbClr val="FFFFFF"/>
                </a:solidFill>
                <a:latin typeface="HK Grotesk Bold"/>
                <a:ea typeface="HK Grotesk Bold"/>
                <a:cs typeface="HK Grotesk Bold"/>
                <a:sym typeface="HK Grotesk Bold"/>
              </a:rPr>
              <a:t>Show the current progress of the project.</a:t>
            </a:r>
          </a:p>
          <a:p>
            <a:pPr algn="l">
              <a:lnSpc>
                <a:spcPts val="4399"/>
              </a:lnSpc>
              <a:spcBef>
                <a:spcPct val="0"/>
              </a:spcBef>
            </a:pPr>
            <a:endParaRPr lang="en-US" sz="3999" b="1" dirty="0">
              <a:solidFill>
                <a:srgbClr val="FFFFFF"/>
              </a:solidFill>
              <a:latin typeface="HK Grotesk Bold"/>
              <a:ea typeface="HK Grotesk Bold"/>
              <a:cs typeface="HK Grotesk Bold"/>
              <a:sym typeface="HK Grotesk Bold"/>
            </a:endParaRPr>
          </a:p>
        </p:txBody>
      </p:sp>
      <p:sp>
        <p:nvSpPr>
          <p:cNvPr id="5" name="TextBox 5"/>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grpSp>
        <p:nvGrpSpPr>
          <p:cNvPr id="6" name="Group 6"/>
          <p:cNvGrpSpPr/>
          <p:nvPr/>
        </p:nvGrpSpPr>
        <p:grpSpPr>
          <a:xfrm>
            <a:off x="15041993" y="441608"/>
            <a:ext cx="1317891" cy="1060450"/>
            <a:chOff x="0" y="0"/>
            <a:chExt cx="912277" cy="734070"/>
          </a:xfrm>
        </p:grpSpPr>
        <p:sp>
          <p:nvSpPr>
            <p:cNvPr id="7" name="Freeform 7"/>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8" name="Freeform 8"/>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pic>
        <p:nvPicPr>
          <p:cNvPr id="11" name="Picture 10">
            <a:extLst>
              <a:ext uri="{FF2B5EF4-FFF2-40B4-BE49-F238E27FC236}">
                <a16:creationId xmlns:a16="http://schemas.microsoft.com/office/drawing/2014/main" id="{D8B8A3EE-437D-B52D-EFC9-064911C5E2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71908" y="2638482"/>
            <a:ext cx="3818984" cy="7648518"/>
          </a:xfrm>
          <a:prstGeom prst="rect">
            <a:avLst/>
          </a:prstGeom>
        </p:spPr>
      </p:pic>
      <p:pic>
        <p:nvPicPr>
          <p:cNvPr id="13" name="Picture 12">
            <a:extLst>
              <a:ext uri="{FF2B5EF4-FFF2-40B4-BE49-F238E27FC236}">
                <a16:creationId xmlns:a16="http://schemas.microsoft.com/office/drawing/2014/main" id="{65A6E7B8-A178-C1D0-AABC-B619780D56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49016" y="2666999"/>
            <a:ext cx="3818984" cy="7620001"/>
          </a:xfrm>
          <a:prstGeom prst="rect">
            <a:avLst/>
          </a:prstGeom>
        </p:spPr>
      </p:pic>
      <p:pic>
        <p:nvPicPr>
          <p:cNvPr id="15" name="Picture 14">
            <a:extLst>
              <a:ext uri="{FF2B5EF4-FFF2-40B4-BE49-F238E27FC236}">
                <a16:creationId xmlns:a16="http://schemas.microsoft.com/office/drawing/2014/main" id="{1747A8C9-3AE8-CC85-A883-39C221D6083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887201" y="2705100"/>
            <a:ext cx="4021763" cy="76267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a:off x="15041993" y="441608"/>
            <a:ext cx="1317891" cy="1060450"/>
            <a:chOff x="0" y="0"/>
            <a:chExt cx="912277" cy="734070"/>
          </a:xfrm>
        </p:grpSpPr>
        <p:sp>
          <p:nvSpPr>
            <p:cNvPr id="3" name="Freeform 3"/>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6" name="TextBox 6"/>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7" name="TextBox 7"/>
          <p:cNvSpPr txBox="1"/>
          <p:nvPr/>
        </p:nvSpPr>
        <p:spPr>
          <a:xfrm>
            <a:off x="6400800" y="1620428"/>
            <a:ext cx="11136127" cy="1141210"/>
          </a:xfrm>
          <a:prstGeom prst="rect">
            <a:avLst/>
          </a:prstGeom>
        </p:spPr>
        <p:txBody>
          <a:bodyPr lIns="0" tIns="0" rIns="0" bIns="0" rtlCol="0" anchor="t">
            <a:spAutoFit/>
          </a:bodyPr>
          <a:lstStyle/>
          <a:p>
            <a:pPr algn="l">
              <a:lnSpc>
                <a:spcPts val="4399"/>
              </a:lnSpc>
            </a:pPr>
            <a:r>
              <a:rPr lang="en-US" sz="3999" b="1" dirty="0">
                <a:solidFill>
                  <a:srgbClr val="FFFFFF"/>
                </a:solidFill>
                <a:latin typeface="HK Grotesk Bold"/>
                <a:ea typeface="HK Grotesk Bold"/>
                <a:cs typeface="HK Grotesk Bold"/>
                <a:sym typeface="HK Grotesk Bold"/>
              </a:rPr>
              <a:t>System Workflow</a:t>
            </a:r>
          </a:p>
          <a:p>
            <a:pPr algn="l">
              <a:lnSpc>
                <a:spcPts val="4399"/>
              </a:lnSpc>
              <a:spcBef>
                <a:spcPct val="0"/>
              </a:spcBef>
            </a:pPr>
            <a:endParaRPr lang="en-US" sz="3999" b="1" dirty="0">
              <a:solidFill>
                <a:srgbClr val="FFFFFF"/>
              </a:solidFill>
              <a:latin typeface="HK Grotesk Bold"/>
              <a:ea typeface="HK Grotesk Bold"/>
              <a:cs typeface="HK Grotesk Bold"/>
              <a:sym typeface="HK Grotesk Bold"/>
            </a:endParaRPr>
          </a:p>
        </p:txBody>
      </p:sp>
      <p:sp>
        <p:nvSpPr>
          <p:cNvPr id="8" name="TextBox 8"/>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pic>
        <p:nvPicPr>
          <p:cNvPr id="10" name="Picture 9">
            <a:extLst>
              <a:ext uri="{FF2B5EF4-FFF2-40B4-BE49-F238E27FC236}">
                <a16:creationId xmlns:a16="http://schemas.microsoft.com/office/drawing/2014/main" id="{34FCB5A1-FE09-A769-FFD2-5E6A429562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247900"/>
            <a:ext cx="18158716" cy="8039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a:off x="15041993" y="441608"/>
            <a:ext cx="1317891" cy="1060450"/>
            <a:chOff x="0" y="0"/>
            <a:chExt cx="912277" cy="734070"/>
          </a:xfrm>
        </p:grpSpPr>
        <p:sp>
          <p:nvSpPr>
            <p:cNvPr id="3" name="Freeform 3"/>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6" name="TextBox 6"/>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7" name="TextBox 7"/>
          <p:cNvSpPr txBox="1"/>
          <p:nvPr/>
        </p:nvSpPr>
        <p:spPr>
          <a:xfrm>
            <a:off x="1503310" y="1495355"/>
            <a:ext cx="16030434" cy="8529836"/>
          </a:xfrm>
          <a:prstGeom prst="rect">
            <a:avLst/>
          </a:prstGeom>
        </p:spPr>
        <p:txBody>
          <a:bodyPr wrap="square" lIns="0" tIns="0" rIns="0" bIns="0" rtlCol="0" anchor="t">
            <a:spAutoFit/>
          </a:bodyPr>
          <a:lstStyle/>
          <a:p>
            <a:pPr algn="l">
              <a:lnSpc>
                <a:spcPts val="3656"/>
              </a:lnSpc>
            </a:pPr>
            <a:r>
              <a:rPr lang="en-US" sz="3200" b="1" dirty="0">
                <a:solidFill>
                  <a:srgbClr val="FFFFFF"/>
                </a:solidFill>
                <a:latin typeface="HK Grotesk Bold"/>
                <a:ea typeface="HK Grotesk Bold"/>
                <a:cs typeface="HK Grotesk Bold"/>
                <a:sym typeface="HK Grotesk Bold"/>
              </a:rPr>
              <a:t>Progress So Far</a:t>
            </a:r>
          </a:p>
          <a:p>
            <a:pPr>
              <a:lnSpc>
                <a:spcPts val="3656"/>
              </a:lnSpc>
              <a:spcBef>
                <a:spcPct val="0"/>
              </a:spcBef>
            </a:pPr>
            <a:r>
              <a:rPr lang="en-US" sz="2800" b="1" dirty="0">
                <a:solidFill>
                  <a:srgbClr val="FFFFFF"/>
                </a:solidFill>
                <a:latin typeface="HK Grotesk Bold"/>
                <a:ea typeface="HK Grotesk Bold"/>
                <a:cs typeface="HK Grotesk Bold"/>
                <a:sym typeface="HK Grotesk Bold"/>
              </a:rPr>
              <a:t>Briefly explain what has been completed since the first checkpoint &amp; final checkpoint.</a:t>
            </a:r>
            <a:br>
              <a:rPr lang="en-US" sz="2800" b="1" dirty="0">
                <a:solidFill>
                  <a:srgbClr val="FFFFFF"/>
                </a:solidFill>
                <a:latin typeface="HK Grotesk Bold"/>
                <a:ea typeface="HK Grotesk Bold"/>
                <a:cs typeface="HK Grotesk Bold"/>
                <a:sym typeface="HK Grotesk Bold"/>
              </a:rPr>
            </a:br>
            <a:r>
              <a:rPr lang="en-US" sz="2800" b="1" dirty="0">
                <a:solidFill>
                  <a:srgbClr val="FFFFFF"/>
                </a:solidFill>
                <a:latin typeface="HK Grotesk Bold"/>
                <a:ea typeface="HK Grotesk Bold"/>
                <a:cs typeface="HK Grotesk Bold"/>
                <a:sym typeface="HK Grotesk Bold"/>
              </a:rPr>
              <a:t>1. Prototype UI Development</a:t>
            </a:r>
          </a:p>
          <a:p>
            <a:pPr algn="l">
              <a:lnSpc>
                <a:spcPts val="3656"/>
              </a:lnSpc>
              <a:spcBef>
                <a:spcPct val="0"/>
              </a:spcBef>
            </a:pPr>
            <a:r>
              <a:rPr lang="en-US" sz="2800" b="1" dirty="0">
                <a:solidFill>
                  <a:srgbClr val="FFFFFF"/>
                </a:solidFill>
                <a:latin typeface="HK Grotesk Bold"/>
                <a:ea typeface="HK Grotesk Bold"/>
                <a:cs typeface="HK Grotesk Bold"/>
                <a:sym typeface="HK Grotesk Bold"/>
              </a:rPr>
              <a:t>The first phase of the project focused on designing the user interface prototype of the File Analyzer application. The prototype includes several key screens such as:</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algn="l">
              <a:lnSpc>
                <a:spcPts val="3656"/>
              </a:lnSpc>
              <a:spcBef>
                <a:spcPct val="0"/>
              </a:spcBef>
            </a:pPr>
            <a:r>
              <a:rPr lang="en-US" sz="2800" b="1" dirty="0">
                <a:solidFill>
                  <a:srgbClr val="FFFFFF"/>
                </a:solidFill>
                <a:latin typeface="HK Grotesk Bold"/>
                <a:ea typeface="HK Grotesk Bold"/>
                <a:cs typeface="HK Grotesk Bold"/>
                <a:sym typeface="HK Grotesk Bold"/>
              </a:rPr>
              <a:t>Login Screen – Allows users to securely log in using email and password.</a:t>
            </a:r>
          </a:p>
          <a:p>
            <a:pPr algn="l">
              <a:lnSpc>
                <a:spcPts val="3656"/>
              </a:lnSpc>
              <a:spcBef>
                <a:spcPct val="0"/>
              </a:spcBef>
            </a:pPr>
            <a:r>
              <a:rPr lang="en-US" sz="2800" b="1" dirty="0">
                <a:solidFill>
                  <a:srgbClr val="FFFFFF"/>
                </a:solidFill>
                <a:latin typeface="HK Grotesk Bold"/>
                <a:ea typeface="HK Grotesk Bold"/>
                <a:cs typeface="HK Grotesk Bold"/>
                <a:sym typeface="HK Grotesk Bold"/>
              </a:rPr>
              <a:t>Scan Mode Selection Screen – Users can choose between Manual Scan and Automatic Scan.</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algn="l">
              <a:lnSpc>
                <a:spcPts val="3656"/>
              </a:lnSpc>
              <a:spcBef>
                <a:spcPct val="0"/>
              </a:spcBef>
            </a:pPr>
            <a:r>
              <a:rPr lang="en-US" sz="2800" b="1" dirty="0">
                <a:solidFill>
                  <a:srgbClr val="FFFFFF"/>
                </a:solidFill>
                <a:latin typeface="HK Grotesk Bold"/>
                <a:ea typeface="HK Grotesk Bold"/>
                <a:cs typeface="HK Grotesk Bold"/>
                <a:sym typeface="HK Grotesk Bold"/>
              </a:rPr>
              <a:t>Security Dashboard – Displays different analyzers such as:</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Image Analyzer</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APK Analyzer</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Document Analyzer</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Video Analyzer</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Music Analyzer</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algn="l">
              <a:lnSpc>
                <a:spcPts val="3656"/>
              </a:lnSpc>
              <a:spcBef>
                <a:spcPct val="0"/>
              </a:spcBef>
            </a:pPr>
            <a:r>
              <a:rPr lang="en-US" sz="2800" b="1" dirty="0">
                <a:solidFill>
                  <a:srgbClr val="FFFFFF"/>
                </a:solidFill>
                <a:latin typeface="HK Grotesk Bold"/>
                <a:ea typeface="HK Grotesk Bold"/>
                <a:cs typeface="HK Grotesk Bold"/>
                <a:sym typeface="HK Grotesk Bold"/>
              </a:rPr>
              <a:t>Scan Center Screen – Provides options for Manual Scan, Automatic Scan Agent, scan history, and system cleaning features.</a:t>
            </a:r>
          </a:p>
        </p:txBody>
      </p:sp>
      <p:sp>
        <p:nvSpPr>
          <p:cNvPr id="8" name="TextBox 8"/>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a:extLst>
            <a:ext uri="{FF2B5EF4-FFF2-40B4-BE49-F238E27FC236}">
              <a16:creationId xmlns:a16="http://schemas.microsoft.com/office/drawing/2014/main" id="{60D8384C-A22F-B083-6C04-388565518A3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DB906D6-A394-8D47-B432-3E4549A1DD0C}"/>
              </a:ext>
            </a:extLst>
          </p:cNvPr>
          <p:cNvGrpSpPr/>
          <p:nvPr/>
        </p:nvGrpSpPr>
        <p:grpSpPr>
          <a:xfrm>
            <a:off x="15041993" y="441608"/>
            <a:ext cx="1317891" cy="1060450"/>
            <a:chOff x="0" y="0"/>
            <a:chExt cx="912277" cy="734070"/>
          </a:xfrm>
        </p:grpSpPr>
        <p:sp>
          <p:nvSpPr>
            <p:cNvPr id="3" name="Freeform 3">
              <a:extLst>
                <a:ext uri="{FF2B5EF4-FFF2-40B4-BE49-F238E27FC236}">
                  <a16:creationId xmlns:a16="http://schemas.microsoft.com/office/drawing/2014/main" id="{997CF247-6DAE-028E-C43E-DC647342CA2D}"/>
                </a:ext>
              </a:extLst>
            </p:cNvPr>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a:extLst>
              <a:ext uri="{FF2B5EF4-FFF2-40B4-BE49-F238E27FC236}">
                <a16:creationId xmlns:a16="http://schemas.microsoft.com/office/drawing/2014/main" id="{0A82B9E1-324D-71FF-D3CA-24E82F2DB058}"/>
              </a:ext>
            </a:extLst>
          </p:cNvPr>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497AC8CF-331F-F300-B03B-1F00B111DCEC}"/>
              </a:ext>
            </a:extLst>
          </p:cNvPr>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6" name="TextBox 6">
            <a:extLst>
              <a:ext uri="{FF2B5EF4-FFF2-40B4-BE49-F238E27FC236}">
                <a16:creationId xmlns:a16="http://schemas.microsoft.com/office/drawing/2014/main" id="{EB5D54E9-D2D1-DE91-ACFC-4707B750FFAD}"/>
              </a:ext>
            </a:extLst>
          </p:cNvPr>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7" name="TextBox 7">
            <a:extLst>
              <a:ext uri="{FF2B5EF4-FFF2-40B4-BE49-F238E27FC236}">
                <a16:creationId xmlns:a16="http://schemas.microsoft.com/office/drawing/2014/main" id="{0E5D0C1A-8383-F945-6E83-A3C65F449FC9}"/>
              </a:ext>
            </a:extLst>
          </p:cNvPr>
          <p:cNvSpPr txBox="1"/>
          <p:nvPr/>
        </p:nvSpPr>
        <p:spPr>
          <a:xfrm>
            <a:off x="914400" y="1494438"/>
            <a:ext cx="16619344" cy="9478813"/>
          </a:xfrm>
          <a:prstGeom prst="rect">
            <a:avLst/>
          </a:prstGeom>
        </p:spPr>
        <p:txBody>
          <a:bodyPr wrap="square" lIns="0" tIns="0" rIns="0" bIns="0" rtlCol="0" anchor="t">
            <a:spAutoFit/>
          </a:bodyPr>
          <a:lstStyle/>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These screens were created to simulate how users will interact with the system before the actual implementation.</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algn="l">
              <a:lnSpc>
                <a:spcPts val="3656"/>
              </a:lnSpc>
              <a:spcBef>
                <a:spcPct val="0"/>
              </a:spcBef>
            </a:pPr>
            <a:r>
              <a:rPr lang="en-US" sz="2800" b="1" dirty="0">
                <a:solidFill>
                  <a:srgbClr val="FFFFFF"/>
                </a:solidFill>
                <a:latin typeface="HK Grotesk Bold"/>
                <a:ea typeface="HK Grotesk Bold"/>
                <a:cs typeface="HK Grotesk Bold"/>
                <a:sym typeface="HK Grotesk Bold"/>
              </a:rPr>
              <a:t>2. Application Workflow Design</a:t>
            </a:r>
          </a:p>
          <a:p>
            <a:pPr algn="l">
              <a:lnSpc>
                <a:spcPts val="3656"/>
              </a:lnSpc>
              <a:spcBef>
                <a:spcPct val="0"/>
              </a:spcBef>
            </a:pPr>
            <a:r>
              <a:rPr lang="en-US" sz="2800" b="1" dirty="0">
                <a:solidFill>
                  <a:srgbClr val="FFFFFF"/>
                </a:solidFill>
                <a:latin typeface="HK Grotesk Bold"/>
                <a:ea typeface="HK Grotesk Bold"/>
                <a:cs typeface="HK Grotesk Bold"/>
                <a:sym typeface="HK Grotesk Bold"/>
              </a:rPr>
              <a:t>The workflow of the application has been planned and designed, including:</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User authentication and login system</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File scanning options (manual and automatic)</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Analyzer modules for different file types</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Security dashboard for easy navigation</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This helps define how the application will function once the backend is implemented.</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algn="l">
              <a:lnSpc>
                <a:spcPts val="3656"/>
              </a:lnSpc>
              <a:spcBef>
                <a:spcPct val="0"/>
              </a:spcBef>
            </a:pPr>
            <a:r>
              <a:rPr lang="en-US" sz="2800" b="1" dirty="0">
                <a:solidFill>
                  <a:srgbClr val="FFFFFF"/>
                </a:solidFill>
                <a:latin typeface="HK Grotesk Bold"/>
                <a:ea typeface="HK Grotesk Bold"/>
                <a:cs typeface="HK Grotesk Bold"/>
                <a:sym typeface="HK Grotesk Bold"/>
              </a:rPr>
              <a:t>3. Analyzer Concept Design</a:t>
            </a:r>
          </a:p>
          <a:p>
            <a:pPr algn="l">
              <a:lnSpc>
                <a:spcPts val="3656"/>
              </a:lnSpc>
              <a:spcBef>
                <a:spcPct val="0"/>
              </a:spcBef>
            </a:pPr>
            <a:r>
              <a:rPr lang="en-US" sz="2800" b="1" dirty="0">
                <a:solidFill>
                  <a:srgbClr val="FFFFFF"/>
                </a:solidFill>
                <a:latin typeface="HK Grotesk Bold"/>
                <a:ea typeface="HK Grotesk Bold"/>
                <a:cs typeface="HK Grotesk Bold"/>
                <a:sym typeface="HK Grotesk Bold"/>
              </a:rPr>
              <a:t>The conceptual design of different file analyzers has been prepared. Each analyzer will inspect specific file types:</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Image Analyzer – detects hidden metadata threats</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APK Analyzer – checks permissions and malicious code</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p:txBody>
      </p:sp>
      <p:sp>
        <p:nvSpPr>
          <p:cNvPr id="8" name="TextBox 8">
            <a:extLst>
              <a:ext uri="{FF2B5EF4-FFF2-40B4-BE49-F238E27FC236}">
                <a16:creationId xmlns:a16="http://schemas.microsoft.com/office/drawing/2014/main" id="{5DE801ED-6E4B-3984-E4AF-CE35B5C33C18}"/>
              </a:ext>
            </a:extLst>
          </p:cNvPr>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spTree>
    <p:extLst>
      <p:ext uri="{BB962C8B-B14F-4D97-AF65-F5344CB8AC3E}">
        <p14:creationId xmlns:p14="http://schemas.microsoft.com/office/powerpoint/2010/main" val="585180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a:extLst>
            <a:ext uri="{FF2B5EF4-FFF2-40B4-BE49-F238E27FC236}">
              <a16:creationId xmlns:a16="http://schemas.microsoft.com/office/drawing/2014/main" id="{D451E221-FB9F-E656-CDBB-9808BF4E2DA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CA91BDF-863F-E0A7-2443-5EFBE7A4380C}"/>
              </a:ext>
            </a:extLst>
          </p:cNvPr>
          <p:cNvGrpSpPr/>
          <p:nvPr/>
        </p:nvGrpSpPr>
        <p:grpSpPr>
          <a:xfrm>
            <a:off x="15041993" y="441608"/>
            <a:ext cx="1317891" cy="1060450"/>
            <a:chOff x="0" y="0"/>
            <a:chExt cx="912277" cy="734070"/>
          </a:xfrm>
        </p:grpSpPr>
        <p:sp>
          <p:nvSpPr>
            <p:cNvPr id="3" name="Freeform 3">
              <a:extLst>
                <a:ext uri="{FF2B5EF4-FFF2-40B4-BE49-F238E27FC236}">
                  <a16:creationId xmlns:a16="http://schemas.microsoft.com/office/drawing/2014/main" id="{A6220BEC-BEDA-9863-1156-AA4DAFDC24AB}"/>
                </a:ext>
              </a:extLst>
            </p:cNvPr>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a:extLst>
              <a:ext uri="{FF2B5EF4-FFF2-40B4-BE49-F238E27FC236}">
                <a16:creationId xmlns:a16="http://schemas.microsoft.com/office/drawing/2014/main" id="{8BE86A26-2DD0-A0AA-89B6-1ABB5CBA9646}"/>
              </a:ext>
            </a:extLst>
          </p:cNvPr>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1A0D7E7C-928F-099A-7542-2A397F8D865E}"/>
              </a:ext>
            </a:extLst>
          </p:cNvPr>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6" name="TextBox 6">
            <a:extLst>
              <a:ext uri="{FF2B5EF4-FFF2-40B4-BE49-F238E27FC236}">
                <a16:creationId xmlns:a16="http://schemas.microsoft.com/office/drawing/2014/main" id="{183BF18D-9582-E670-65F4-BB4CC97D10CA}"/>
              </a:ext>
            </a:extLst>
          </p:cNvPr>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7" name="TextBox 7">
            <a:extLst>
              <a:ext uri="{FF2B5EF4-FFF2-40B4-BE49-F238E27FC236}">
                <a16:creationId xmlns:a16="http://schemas.microsoft.com/office/drawing/2014/main" id="{FD4B6071-7FA3-F1DE-A625-C566D18A3243}"/>
              </a:ext>
            </a:extLst>
          </p:cNvPr>
          <p:cNvSpPr txBox="1"/>
          <p:nvPr/>
        </p:nvSpPr>
        <p:spPr>
          <a:xfrm>
            <a:off x="2438400" y="2256914"/>
            <a:ext cx="14469088" cy="7580858"/>
          </a:xfrm>
          <a:prstGeom prst="rect">
            <a:avLst/>
          </a:prstGeom>
        </p:spPr>
        <p:txBody>
          <a:bodyPr wrap="square" lIns="0" tIns="0" rIns="0" bIns="0" rtlCol="0" anchor="t">
            <a:spAutoFit/>
          </a:bodyPr>
          <a:lstStyle/>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Document Analyzer – scans PDFs and Office files for macros</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Video Analyzer – inspects metadata and file structure</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Music Analyzer – detects embedded malicious data</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These modules will form the core security functionality of the system.</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algn="l">
              <a:lnSpc>
                <a:spcPts val="3656"/>
              </a:lnSpc>
              <a:spcBef>
                <a:spcPct val="0"/>
              </a:spcBef>
            </a:pPr>
            <a:r>
              <a:rPr lang="en-US" sz="2800" b="1" dirty="0">
                <a:solidFill>
                  <a:srgbClr val="FFFFFF"/>
                </a:solidFill>
                <a:latin typeface="HK Grotesk Bold"/>
                <a:ea typeface="HK Grotesk Bold"/>
                <a:cs typeface="HK Grotesk Bold"/>
                <a:sym typeface="HK Grotesk Bold"/>
              </a:rPr>
              <a:t>4. Future Implementation Plan</a:t>
            </a:r>
          </a:p>
          <a:p>
            <a:pPr algn="l">
              <a:lnSpc>
                <a:spcPts val="3656"/>
              </a:lnSpc>
              <a:spcBef>
                <a:spcPct val="0"/>
              </a:spcBef>
            </a:pPr>
            <a:r>
              <a:rPr lang="en-US" sz="2800" b="1" dirty="0">
                <a:solidFill>
                  <a:srgbClr val="FFFFFF"/>
                </a:solidFill>
                <a:latin typeface="HK Grotesk Bold"/>
                <a:ea typeface="HK Grotesk Bold"/>
                <a:cs typeface="HK Grotesk Bold"/>
                <a:sym typeface="HK Grotesk Bold"/>
              </a:rPr>
              <a:t>After completing the prototype design, the next development phases will include:</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Building the scanning agent to automatically monitor downloaded files.</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Developing the backend server to process suspicious files.</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Integrating an AI-based analysis system to detect advanced threats.</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Implementing the automatic scan agent that runs in the background.</a:t>
            </a:r>
          </a:p>
          <a:p>
            <a:pPr marL="457200" indent="-457200" algn="l">
              <a:lnSpc>
                <a:spcPts val="3656"/>
              </a:lnSpc>
              <a:spcBef>
                <a:spcPct val="0"/>
              </a:spcBef>
              <a:buFont typeface="Arial" panose="020B0604020202020204" pitchFamily="34" charset="0"/>
              <a:buChar char="•"/>
            </a:pPr>
            <a:r>
              <a:rPr lang="en-US" sz="2800" b="1" dirty="0">
                <a:solidFill>
                  <a:srgbClr val="FFFFFF"/>
                </a:solidFill>
                <a:latin typeface="HK Grotesk Bold"/>
                <a:ea typeface="HK Grotesk Bold"/>
                <a:cs typeface="HK Grotesk Bold"/>
                <a:sym typeface="HK Grotesk Bold"/>
              </a:rPr>
              <a:t>Adding multi-language support to allow users to change the app language.</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p:txBody>
      </p:sp>
      <p:sp>
        <p:nvSpPr>
          <p:cNvPr id="8" name="TextBox 8">
            <a:extLst>
              <a:ext uri="{FF2B5EF4-FFF2-40B4-BE49-F238E27FC236}">
                <a16:creationId xmlns:a16="http://schemas.microsoft.com/office/drawing/2014/main" id="{1378D95E-EC2D-673B-128A-03B4BC49C2BE}"/>
              </a:ext>
            </a:extLst>
          </p:cNvPr>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spTree>
    <p:extLst>
      <p:ext uri="{BB962C8B-B14F-4D97-AF65-F5344CB8AC3E}">
        <p14:creationId xmlns:p14="http://schemas.microsoft.com/office/powerpoint/2010/main" val="937136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a:extLst>
            <a:ext uri="{FF2B5EF4-FFF2-40B4-BE49-F238E27FC236}">
              <a16:creationId xmlns:a16="http://schemas.microsoft.com/office/drawing/2014/main" id="{64C05F6F-7FD4-B868-74E0-89A60CABB44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5F5E349-CBCF-BB95-3D4D-9BAB8BDD902B}"/>
              </a:ext>
            </a:extLst>
          </p:cNvPr>
          <p:cNvGrpSpPr/>
          <p:nvPr/>
        </p:nvGrpSpPr>
        <p:grpSpPr>
          <a:xfrm>
            <a:off x="15041993" y="441608"/>
            <a:ext cx="1317891" cy="1060450"/>
            <a:chOff x="0" y="0"/>
            <a:chExt cx="912277" cy="734070"/>
          </a:xfrm>
        </p:grpSpPr>
        <p:sp>
          <p:nvSpPr>
            <p:cNvPr id="3" name="Freeform 3">
              <a:extLst>
                <a:ext uri="{FF2B5EF4-FFF2-40B4-BE49-F238E27FC236}">
                  <a16:creationId xmlns:a16="http://schemas.microsoft.com/office/drawing/2014/main" id="{F40D1424-F7A7-CCA3-6FB5-F73506DCD364}"/>
                </a:ext>
              </a:extLst>
            </p:cNvPr>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a:extLst>
              <a:ext uri="{FF2B5EF4-FFF2-40B4-BE49-F238E27FC236}">
                <a16:creationId xmlns:a16="http://schemas.microsoft.com/office/drawing/2014/main" id="{0EA2153A-340E-4EA8-2232-63CA2756879E}"/>
              </a:ext>
            </a:extLst>
          </p:cNvPr>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4FABE228-87EB-7C2B-C0F4-826CF942165D}"/>
              </a:ext>
            </a:extLst>
          </p:cNvPr>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6" name="TextBox 6">
            <a:extLst>
              <a:ext uri="{FF2B5EF4-FFF2-40B4-BE49-F238E27FC236}">
                <a16:creationId xmlns:a16="http://schemas.microsoft.com/office/drawing/2014/main" id="{6915875D-904B-9056-F88C-1E189BC24400}"/>
              </a:ext>
            </a:extLst>
          </p:cNvPr>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7" name="TextBox 7">
            <a:extLst>
              <a:ext uri="{FF2B5EF4-FFF2-40B4-BE49-F238E27FC236}">
                <a16:creationId xmlns:a16="http://schemas.microsoft.com/office/drawing/2014/main" id="{76727931-4303-A043-472B-ACFFA5CF6628}"/>
              </a:ext>
            </a:extLst>
          </p:cNvPr>
          <p:cNvSpPr txBox="1"/>
          <p:nvPr/>
        </p:nvSpPr>
        <p:spPr>
          <a:xfrm>
            <a:off x="3787360" y="2247900"/>
            <a:ext cx="12542044" cy="4733925"/>
          </a:xfrm>
          <a:prstGeom prst="rect">
            <a:avLst/>
          </a:prstGeom>
        </p:spPr>
        <p:txBody>
          <a:bodyPr lIns="0" tIns="0" rIns="0" bIns="0" rtlCol="0" anchor="t">
            <a:spAutoFit/>
          </a:bodyPr>
          <a:lstStyle/>
          <a:p>
            <a:pPr algn="l">
              <a:lnSpc>
                <a:spcPts val="3656"/>
              </a:lnSpc>
              <a:spcBef>
                <a:spcPct val="0"/>
              </a:spcBef>
            </a:pPr>
            <a:r>
              <a:rPr lang="en-US" sz="3200" b="1" dirty="0">
                <a:solidFill>
                  <a:srgbClr val="FFFFFF"/>
                </a:solidFill>
                <a:latin typeface="HK Grotesk Bold"/>
                <a:ea typeface="HK Grotesk Bold"/>
                <a:cs typeface="HK Grotesk Bold"/>
                <a:sym typeface="HK Grotesk Bold"/>
              </a:rPr>
              <a:t>5. Next Development Phase</a:t>
            </a:r>
          </a:p>
          <a:p>
            <a:pPr algn="l">
              <a:lnSpc>
                <a:spcPts val="3656"/>
              </a:lnSpc>
              <a:spcBef>
                <a:spcPct val="0"/>
              </a:spcBef>
            </a:pPr>
            <a:r>
              <a:rPr lang="en-US" sz="3200" b="1" dirty="0">
                <a:solidFill>
                  <a:srgbClr val="FFFFFF"/>
                </a:solidFill>
                <a:latin typeface="HK Grotesk Bold"/>
                <a:ea typeface="HK Grotesk Bold"/>
                <a:cs typeface="HK Grotesk Bold"/>
                <a:sym typeface="HK Grotesk Bold"/>
              </a:rPr>
              <a:t>The upcoming phase will focus on:</a:t>
            </a:r>
          </a:p>
          <a:p>
            <a:pPr algn="l">
              <a:lnSpc>
                <a:spcPts val="3656"/>
              </a:lnSpc>
              <a:spcBef>
                <a:spcPct val="0"/>
              </a:spcBef>
            </a:pPr>
            <a:endParaRPr lang="en-US" sz="3200" b="1" dirty="0">
              <a:solidFill>
                <a:srgbClr val="FFFFFF"/>
              </a:solidFill>
              <a:latin typeface="HK Grotesk Bold"/>
              <a:ea typeface="HK Grotesk Bold"/>
              <a:cs typeface="HK Grotesk Bold"/>
              <a:sym typeface="HK Grotesk Bold"/>
            </a:endParaRPr>
          </a:p>
          <a:p>
            <a:pPr marL="457200" indent="-457200" algn="l">
              <a:lnSpc>
                <a:spcPts val="3656"/>
              </a:lnSpc>
              <a:spcBef>
                <a:spcPct val="0"/>
              </a:spcBef>
              <a:buFont typeface="Arial" panose="020B0604020202020204" pitchFamily="34" charset="0"/>
              <a:buChar char="•"/>
            </a:pPr>
            <a:r>
              <a:rPr lang="en-US" sz="3200" b="1" dirty="0">
                <a:solidFill>
                  <a:srgbClr val="FFFFFF"/>
                </a:solidFill>
                <a:latin typeface="HK Grotesk Bold"/>
                <a:ea typeface="HK Grotesk Bold"/>
                <a:cs typeface="HK Grotesk Bold"/>
                <a:sym typeface="HK Grotesk Bold"/>
              </a:rPr>
              <a:t>Backend development</a:t>
            </a:r>
          </a:p>
          <a:p>
            <a:pPr marL="457200" indent="-457200" algn="l">
              <a:lnSpc>
                <a:spcPts val="3656"/>
              </a:lnSpc>
              <a:spcBef>
                <a:spcPct val="0"/>
              </a:spcBef>
              <a:buFont typeface="Arial" panose="020B0604020202020204" pitchFamily="34" charset="0"/>
              <a:buChar char="•"/>
            </a:pPr>
            <a:r>
              <a:rPr lang="en-US" sz="3200" b="1" dirty="0">
                <a:solidFill>
                  <a:srgbClr val="FFFFFF"/>
                </a:solidFill>
                <a:latin typeface="HK Grotesk Bold"/>
                <a:ea typeface="HK Grotesk Bold"/>
                <a:cs typeface="HK Grotesk Bold"/>
                <a:sym typeface="HK Grotesk Bold"/>
              </a:rPr>
              <a:t>Agent-based automatic scanning</a:t>
            </a:r>
          </a:p>
          <a:p>
            <a:pPr marL="457200" indent="-457200" algn="l">
              <a:lnSpc>
                <a:spcPts val="3656"/>
              </a:lnSpc>
              <a:spcBef>
                <a:spcPct val="0"/>
              </a:spcBef>
              <a:buFont typeface="Arial" panose="020B0604020202020204" pitchFamily="34" charset="0"/>
              <a:buChar char="•"/>
            </a:pPr>
            <a:r>
              <a:rPr lang="en-US" sz="3200" b="1" dirty="0">
                <a:solidFill>
                  <a:srgbClr val="FFFFFF"/>
                </a:solidFill>
                <a:latin typeface="HK Grotesk Bold"/>
                <a:ea typeface="HK Grotesk Bold"/>
                <a:cs typeface="HK Grotesk Bold"/>
                <a:sym typeface="HK Grotesk Bold"/>
              </a:rPr>
              <a:t>AI threat detection integration</a:t>
            </a:r>
          </a:p>
          <a:p>
            <a:pPr marL="457200" indent="-457200" algn="l">
              <a:lnSpc>
                <a:spcPts val="3656"/>
              </a:lnSpc>
              <a:spcBef>
                <a:spcPct val="0"/>
              </a:spcBef>
              <a:buFont typeface="Arial" panose="020B0604020202020204" pitchFamily="34" charset="0"/>
              <a:buChar char="•"/>
            </a:pPr>
            <a:r>
              <a:rPr lang="en-US" sz="3200" b="1" dirty="0">
                <a:solidFill>
                  <a:srgbClr val="FFFFFF"/>
                </a:solidFill>
                <a:latin typeface="HK Grotesk Bold"/>
                <a:ea typeface="HK Grotesk Bold"/>
                <a:cs typeface="HK Grotesk Bold"/>
                <a:sym typeface="HK Grotesk Bold"/>
              </a:rPr>
              <a:t>Server communication for deep analysis</a:t>
            </a:r>
          </a:p>
          <a:p>
            <a:pPr marL="457200" indent="-457200" algn="l">
              <a:lnSpc>
                <a:spcPts val="3656"/>
              </a:lnSpc>
              <a:spcBef>
                <a:spcPct val="0"/>
              </a:spcBef>
              <a:buFont typeface="Arial" panose="020B0604020202020204" pitchFamily="34" charset="0"/>
              <a:buChar char="•"/>
            </a:pPr>
            <a:r>
              <a:rPr lang="en-US" sz="3200" b="1" dirty="0">
                <a:solidFill>
                  <a:srgbClr val="FFFFFF"/>
                </a:solidFill>
                <a:latin typeface="HK Grotesk Bold"/>
                <a:ea typeface="HK Grotesk Bold"/>
                <a:cs typeface="HK Grotesk Bold"/>
                <a:sym typeface="HK Grotesk Bold"/>
              </a:rPr>
              <a:t>Language selection feature</a:t>
            </a: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a:p>
            <a:pPr algn="l">
              <a:lnSpc>
                <a:spcPts val="3656"/>
              </a:lnSpc>
              <a:spcBef>
                <a:spcPct val="0"/>
              </a:spcBef>
            </a:pPr>
            <a:endParaRPr lang="en-US" sz="2800" b="1" dirty="0">
              <a:solidFill>
                <a:srgbClr val="FFFFFF"/>
              </a:solidFill>
              <a:latin typeface="HK Grotesk Bold"/>
              <a:ea typeface="HK Grotesk Bold"/>
              <a:cs typeface="HK Grotesk Bold"/>
              <a:sym typeface="HK Grotesk Bold"/>
            </a:endParaRPr>
          </a:p>
        </p:txBody>
      </p:sp>
      <p:sp>
        <p:nvSpPr>
          <p:cNvPr id="8" name="TextBox 8">
            <a:extLst>
              <a:ext uri="{FF2B5EF4-FFF2-40B4-BE49-F238E27FC236}">
                <a16:creationId xmlns:a16="http://schemas.microsoft.com/office/drawing/2014/main" id="{C103D479-562D-A15C-65D5-C81AC15D2193}"/>
              </a:ext>
            </a:extLst>
          </p:cNvPr>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spTree>
    <p:extLst>
      <p:ext uri="{BB962C8B-B14F-4D97-AF65-F5344CB8AC3E}">
        <p14:creationId xmlns:p14="http://schemas.microsoft.com/office/powerpoint/2010/main" val="3945662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a:extLst>
            <a:ext uri="{FF2B5EF4-FFF2-40B4-BE49-F238E27FC236}">
              <a16:creationId xmlns:a16="http://schemas.microsoft.com/office/drawing/2014/main" id="{B08E7C36-2B85-10CC-3770-DD3EF593E61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90ECC57-2A4F-61FB-12B2-CC605FABA043}"/>
              </a:ext>
            </a:extLst>
          </p:cNvPr>
          <p:cNvGrpSpPr/>
          <p:nvPr/>
        </p:nvGrpSpPr>
        <p:grpSpPr>
          <a:xfrm>
            <a:off x="15041993" y="441608"/>
            <a:ext cx="1317891" cy="1060450"/>
            <a:chOff x="0" y="0"/>
            <a:chExt cx="912277" cy="734070"/>
          </a:xfrm>
        </p:grpSpPr>
        <p:sp>
          <p:nvSpPr>
            <p:cNvPr id="3" name="Freeform 3">
              <a:extLst>
                <a:ext uri="{FF2B5EF4-FFF2-40B4-BE49-F238E27FC236}">
                  <a16:creationId xmlns:a16="http://schemas.microsoft.com/office/drawing/2014/main" id="{4D26E86F-F44D-7DE7-5288-A77D1C3B6FFC}"/>
                </a:ext>
              </a:extLst>
            </p:cNvPr>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a:extLst>
              <a:ext uri="{FF2B5EF4-FFF2-40B4-BE49-F238E27FC236}">
                <a16:creationId xmlns:a16="http://schemas.microsoft.com/office/drawing/2014/main" id="{74947454-4BD5-1AAC-73D0-B95D0AFADAB7}"/>
              </a:ext>
            </a:extLst>
          </p:cNvPr>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C49CD1AE-0991-3D55-178A-511B6124B53D}"/>
              </a:ext>
            </a:extLst>
          </p:cNvPr>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6" name="TextBox 6">
            <a:extLst>
              <a:ext uri="{FF2B5EF4-FFF2-40B4-BE49-F238E27FC236}">
                <a16:creationId xmlns:a16="http://schemas.microsoft.com/office/drawing/2014/main" id="{7F3E2CD0-C2B1-7F29-5306-46047C05A079}"/>
              </a:ext>
            </a:extLst>
          </p:cNvPr>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7" name="TextBox 7">
            <a:extLst>
              <a:ext uri="{FF2B5EF4-FFF2-40B4-BE49-F238E27FC236}">
                <a16:creationId xmlns:a16="http://schemas.microsoft.com/office/drawing/2014/main" id="{948B7134-6448-3F7E-63D3-E5834A73F7A3}"/>
              </a:ext>
            </a:extLst>
          </p:cNvPr>
          <p:cNvSpPr txBox="1"/>
          <p:nvPr/>
        </p:nvSpPr>
        <p:spPr>
          <a:xfrm>
            <a:off x="3174134" y="1714500"/>
            <a:ext cx="12542044" cy="483659"/>
          </a:xfrm>
          <a:prstGeom prst="rect">
            <a:avLst/>
          </a:prstGeom>
        </p:spPr>
        <p:txBody>
          <a:bodyPr lIns="0" tIns="0" rIns="0" bIns="0" rtlCol="0" anchor="t">
            <a:spAutoFit/>
          </a:bodyPr>
          <a:lstStyle/>
          <a:p>
            <a:pPr algn="l">
              <a:lnSpc>
                <a:spcPts val="3656"/>
              </a:lnSpc>
            </a:pPr>
            <a:r>
              <a:rPr lang="en-US" sz="3323" b="1" dirty="0">
                <a:solidFill>
                  <a:srgbClr val="FFFFFF"/>
                </a:solidFill>
                <a:latin typeface="HK Grotesk Bold"/>
                <a:ea typeface="HK Grotesk Bold"/>
                <a:cs typeface="HK Grotesk Bold"/>
                <a:sym typeface="HK Grotesk Bold"/>
              </a:rPr>
              <a:t>Comparison with File Analyzer</a:t>
            </a:r>
          </a:p>
        </p:txBody>
      </p:sp>
      <p:sp>
        <p:nvSpPr>
          <p:cNvPr id="8" name="TextBox 8">
            <a:extLst>
              <a:ext uri="{FF2B5EF4-FFF2-40B4-BE49-F238E27FC236}">
                <a16:creationId xmlns:a16="http://schemas.microsoft.com/office/drawing/2014/main" id="{8230D6AC-0663-FE40-8458-F1D0A417B821}"/>
              </a:ext>
            </a:extLst>
          </p:cNvPr>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graphicFrame>
        <p:nvGraphicFramePr>
          <p:cNvPr id="9" name="object 3"/>
          <p:cNvGraphicFramePr>
            <a:graphicFrameLocks noGrp="1"/>
          </p:cNvGraphicFramePr>
          <p:nvPr>
            <p:extLst>
              <p:ext uri="{D42A27DB-BD31-4B8C-83A1-F6EECF244321}">
                <p14:modId xmlns:p14="http://schemas.microsoft.com/office/powerpoint/2010/main" val="450558677"/>
              </p:ext>
            </p:extLst>
          </p:nvPr>
        </p:nvGraphicFramePr>
        <p:xfrm>
          <a:off x="1524000" y="2679382"/>
          <a:ext cx="15468600" cy="7166009"/>
        </p:xfrm>
        <a:graphic>
          <a:graphicData uri="http://schemas.openxmlformats.org/drawingml/2006/table">
            <a:tbl>
              <a:tblPr firstRow="1" bandRow="1">
                <a:tableStyleId>{E269D01E-BC32-4049-B463-5C60D7B0CCD2}</a:tableStyleId>
              </a:tblPr>
              <a:tblGrid>
                <a:gridCol w="3332090">
                  <a:extLst>
                    <a:ext uri="{9D8B030D-6E8A-4147-A177-3AD203B41FA5}">
                      <a16:colId xmlns:a16="http://schemas.microsoft.com/office/drawing/2014/main" val="20000"/>
                    </a:ext>
                  </a:extLst>
                </a:gridCol>
                <a:gridCol w="4097065">
                  <a:extLst>
                    <a:ext uri="{9D8B030D-6E8A-4147-A177-3AD203B41FA5}">
                      <a16:colId xmlns:a16="http://schemas.microsoft.com/office/drawing/2014/main" val="20001"/>
                    </a:ext>
                  </a:extLst>
                </a:gridCol>
                <a:gridCol w="4011235">
                  <a:extLst>
                    <a:ext uri="{9D8B030D-6E8A-4147-A177-3AD203B41FA5}">
                      <a16:colId xmlns:a16="http://schemas.microsoft.com/office/drawing/2014/main" val="20002"/>
                    </a:ext>
                  </a:extLst>
                </a:gridCol>
                <a:gridCol w="4028210">
                  <a:extLst>
                    <a:ext uri="{9D8B030D-6E8A-4147-A177-3AD203B41FA5}">
                      <a16:colId xmlns:a16="http://schemas.microsoft.com/office/drawing/2014/main" val="20003"/>
                    </a:ext>
                  </a:extLst>
                </a:gridCol>
              </a:tblGrid>
              <a:tr h="929799">
                <a:tc>
                  <a:txBody>
                    <a:bodyPr/>
                    <a:lstStyle/>
                    <a:p>
                      <a:pPr algn="ctr">
                        <a:lnSpc>
                          <a:spcPct val="100000"/>
                        </a:lnSpc>
                        <a:spcBef>
                          <a:spcPts val="225"/>
                        </a:spcBef>
                      </a:pPr>
                      <a:r>
                        <a:rPr sz="1800" b="1" dirty="0">
                          <a:solidFill>
                            <a:srgbClr val="FFFFFF"/>
                          </a:solidFill>
                        </a:rPr>
                        <a:t>Name</a:t>
                      </a:r>
                      <a:r>
                        <a:rPr sz="1800" b="1" spc="-30" dirty="0">
                          <a:solidFill>
                            <a:srgbClr val="FFFFFF"/>
                          </a:solidFill>
                        </a:rPr>
                        <a:t> </a:t>
                      </a:r>
                      <a:r>
                        <a:rPr sz="1800" b="1" dirty="0">
                          <a:solidFill>
                            <a:srgbClr val="FFFFFF"/>
                          </a:solidFill>
                        </a:rPr>
                        <a:t>of</a:t>
                      </a:r>
                      <a:r>
                        <a:rPr sz="1800" b="1" spc="-30" dirty="0">
                          <a:solidFill>
                            <a:srgbClr val="FFFFFF"/>
                          </a:solidFill>
                        </a:rPr>
                        <a:t> </a:t>
                      </a:r>
                      <a:r>
                        <a:rPr sz="1800" b="1" dirty="0">
                          <a:solidFill>
                            <a:srgbClr val="FFFFFF"/>
                          </a:solidFill>
                        </a:rPr>
                        <a:t>the</a:t>
                      </a:r>
                      <a:r>
                        <a:rPr sz="1800" b="1" spc="-30" dirty="0">
                          <a:solidFill>
                            <a:srgbClr val="FFFFFF"/>
                          </a:solidFill>
                        </a:rPr>
                        <a:t> </a:t>
                      </a:r>
                      <a:r>
                        <a:rPr sz="1800" b="1" spc="-10" dirty="0">
                          <a:solidFill>
                            <a:srgbClr val="FFFFFF"/>
                          </a:solidFill>
                        </a:rPr>
                        <a:t>System</a:t>
                      </a:r>
                      <a:endParaRPr sz="1800">
                        <a:latin typeface="Cambria"/>
                        <a:cs typeface="Cambria"/>
                      </a:endParaRPr>
                    </a:p>
                  </a:txBody>
                  <a:tcPr marL="0" marR="0" marT="28575" marB="0"/>
                </a:tc>
                <a:tc>
                  <a:txBody>
                    <a:bodyPr/>
                    <a:lstStyle/>
                    <a:p>
                      <a:pPr marL="520700" marR="515620" indent="20320" algn="ctr">
                        <a:lnSpc>
                          <a:spcPct val="100000"/>
                        </a:lnSpc>
                        <a:spcBef>
                          <a:spcPts val="225"/>
                        </a:spcBef>
                      </a:pPr>
                      <a:r>
                        <a:rPr sz="1800" b="1" dirty="0">
                          <a:solidFill>
                            <a:srgbClr val="FFFFFF"/>
                          </a:solidFill>
                        </a:rPr>
                        <a:t>Technologies</a:t>
                      </a:r>
                      <a:r>
                        <a:rPr sz="1800" b="1" spc="-60" dirty="0">
                          <a:solidFill>
                            <a:srgbClr val="FFFFFF"/>
                          </a:solidFill>
                        </a:rPr>
                        <a:t> </a:t>
                      </a:r>
                      <a:r>
                        <a:rPr sz="1800" b="1" spc="-25" dirty="0">
                          <a:solidFill>
                            <a:srgbClr val="FFFFFF"/>
                          </a:solidFill>
                        </a:rPr>
                        <a:t>or </a:t>
                      </a:r>
                      <a:r>
                        <a:rPr sz="1800" b="1" dirty="0">
                          <a:solidFill>
                            <a:srgbClr val="FFFFFF"/>
                          </a:solidFill>
                        </a:rPr>
                        <a:t>Algorithms</a:t>
                      </a:r>
                      <a:r>
                        <a:rPr sz="1800" b="1" spc="-50" dirty="0">
                          <a:solidFill>
                            <a:srgbClr val="FFFFFF"/>
                          </a:solidFill>
                        </a:rPr>
                        <a:t> </a:t>
                      </a:r>
                      <a:r>
                        <a:rPr sz="1800" b="1" spc="-20" dirty="0">
                          <a:solidFill>
                            <a:srgbClr val="FFFFFF"/>
                          </a:solidFill>
                        </a:rPr>
                        <a:t>used</a:t>
                      </a:r>
                      <a:endParaRPr sz="1800">
                        <a:latin typeface="Cambria"/>
                        <a:cs typeface="Cambria"/>
                      </a:endParaRPr>
                    </a:p>
                  </a:txBody>
                  <a:tcPr marL="0" marR="0" marT="28575" marB="0"/>
                </a:tc>
                <a:tc>
                  <a:txBody>
                    <a:bodyPr/>
                    <a:lstStyle/>
                    <a:p>
                      <a:pPr algn="ctr">
                        <a:lnSpc>
                          <a:spcPct val="100000"/>
                        </a:lnSpc>
                        <a:spcBef>
                          <a:spcPts val="225"/>
                        </a:spcBef>
                      </a:pPr>
                      <a:r>
                        <a:rPr sz="1800" b="1" spc="-10" dirty="0">
                          <a:solidFill>
                            <a:srgbClr val="FFFFFF"/>
                          </a:solidFill>
                        </a:rPr>
                        <a:t>Features</a:t>
                      </a:r>
                      <a:endParaRPr sz="1800">
                        <a:latin typeface="Cambria"/>
                        <a:cs typeface="Cambria"/>
                      </a:endParaRPr>
                    </a:p>
                  </a:txBody>
                  <a:tcPr marL="0" marR="0" marT="28575" marB="0"/>
                </a:tc>
                <a:tc>
                  <a:txBody>
                    <a:bodyPr/>
                    <a:lstStyle/>
                    <a:p>
                      <a:pPr marL="795020" algn="ctr">
                        <a:lnSpc>
                          <a:spcPct val="100000"/>
                        </a:lnSpc>
                        <a:spcBef>
                          <a:spcPts val="225"/>
                        </a:spcBef>
                      </a:pPr>
                      <a:r>
                        <a:rPr sz="1800" b="1" spc="-10" dirty="0">
                          <a:solidFill>
                            <a:srgbClr val="FFFFFF"/>
                          </a:solidFill>
                        </a:rPr>
                        <a:t>Drawbacks</a:t>
                      </a:r>
                      <a:endParaRPr sz="1800">
                        <a:latin typeface="Cambria"/>
                        <a:cs typeface="Cambria"/>
                      </a:endParaRPr>
                    </a:p>
                  </a:txBody>
                  <a:tcPr marL="0" marR="0" marT="28575" marB="0"/>
                </a:tc>
                <a:extLst>
                  <a:ext uri="{0D108BD9-81ED-4DB2-BD59-A6C34878D82A}">
                    <a16:rowId xmlns:a16="http://schemas.microsoft.com/office/drawing/2014/main" val="10000"/>
                  </a:ext>
                </a:extLst>
              </a:tr>
              <a:tr h="1595524">
                <a:tc>
                  <a:txBody>
                    <a:bodyPr/>
                    <a:lstStyle/>
                    <a:p>
                      <a:pPr marL="0" marR="0" lvl="0" indent="0" algn="ctr" defTabSz="914400" eaLnBrk="1" fontAlgn="auto" latinLnBrk="0" hangingPunct="1">
                        <a:lnSpc>
                          <a:spcPct val="100000"/>
                        </a:lnSpc>
                        <a:spcBef>
                          <a:spcPts val="225"/>
                        </a:spcBef>
                        <a:spcAft>
                          <a:spcPts val="0"/>
                        </a:spcAft>
                        <a:buClrTx/>
                        <a:buSzTx/>
                        <a:buFontTx/>
                        <a:buNone/>
                        <a:tabLst/>
                        <a:defRPr/>
                      </a:pPr>
                      <a:r>
                        <a:rPr lang="en-IN" sz="1800" dirty="0"/>
                        <a:t>VIRUS TOTAL</a:t>
                      </a:r>
                    </a:p>
                    <a:p>
                      <a:pPr algn="ctr">
                        <a:lnSpc>
                          <a:spcPct val="100000"/>
                        </a:lnSpc>
                        <a:spcBef>
                          <a:spcPts val="225"/>
                        </a:spcBef>
                      </a:pPr>
                      <a:endParaRPr sz="1800" dirty="0">
                        <a:latin typeface="Cambria"/>
                        <a:cs typeface="Cambria"/>
                      </a:endParaRPr>
                    </a:p>
                  </a:txBody>
                  <a:tcPr marL="0" marR="0" marT="28575" marB="0"/>
                </a:tc>
                <a:tc>
                  <a:txBody>
                    <a:bodyPr/>
                    <a:lstStyle/>
                    <a:p>
                      <a:pPr algn="ctr">
                        <a:lnSpc>
                          <a:spcPct val="100000"/>
                        </a:lnSpc>
                      </a:pPr>
                      <a:r>
                        <a:rPr lang="en-GB" sz="1800" dirty="0"/>
                        <a:t>Cloud-based malware scanning, Signature-based detection, Hash comparison</a:t>
                      </a:r>
                      <a:endParaRPr lang="en-GB" sz="1800" dirty="0">
                        <a:latin typeface="Times New Roman"/>
                        <a:cs typeface="Times New Roman"/>
                      </a:endParaRPr>
                    </a:p>
                  </a:txBody>
                  <a:tcPr marL="0" marR="0" marT="0" marB="0"/>
                </a:tc>
                <a:tc>
                  <a:txBody>
                    <a:bodyPr/>
                    <a:lstStyle/>
                    <a:p>
                      <a:pPr algn="ctr">
                        <a:lnSpc>
                          <a:spcPct val="100000"/>
                        </a:lnSpc>
                      </a:pPr>
                      <a:r>
                        <a:rPr lang="en-GB" dirty="0"/>
                        <a:t>Scans files using multiple antivirus engines, URL scanning, Malware report generation</a:t>
                      </a:r>
                      <a:endParaRPr sz="1800" dirty="0">
                        <a:latin typeface="Times New Roman"/>
                        <a:cs typeface="Times New Roman"/>
                      </a:endParaRPr>
                    </a:p>
                  </a:txBody>
                  <a:tcPr marL="0" marR="0" marT="0" marB="0"/>
                </a:tc>
                <a:tc>
                  <a:txBody>
                    <a:bodyPr/>
                    <a:lstStyle/>
                    <a:p>
                      <a:pPr algn="ctr">
                        <a:lnSpc>
                          <a:spcPct val="100000"/>
                        </a:lnSpc>
                      </a:pPr>
                      <a:r>
                        <a:rPr lang="en-GB" sz="1800" dirty="0"/>
                        <a:t>Requires internet, No offline scanning, Limited mobile integration</a:t>
                      </a:r>
                      <a:endParaRPr sz="1800" dirty="0">
                        <a:latin typeface="Times New Roman"/>
                        <a:cs typeface="Times New Roman"/>
                      </a:endParaRPr>
                    </a:p>
                  </a:txBody>
                  <a:tcPr marL="0" marR="0" marT="0" marB="0"/>
                </a:tc>
                <a:extLst>
                  <a:ext uri="{0D108BD9-81ED-4DB2-BD59-A6C34878D82A}">
                    <a16:rowId xmlns:a16="http://schemas.microsoft.com/office/drawing/2014/main" val="10001"/>
                  </a:ext>
                </a:extLst>
              </a:tr>
              <a:tr h="1275127">
                <a:tc>
                  <a:txBody>
                    <a:bodyPr/>
                    <a:lstStyle/>
                    <a:p>
                      <a:pPr marL="0" marR="0" lvl="0" indent="0" algn="ctr" defTabSz="914400" eaLnBrk="1" fontAlgn="auto" latinLnBrk="0" hangingPunct="1">
                        <a:lnSpc>
                          <a:spcPct val="100000"/>
                        </a:lnSpc>
                        <a:spcBef>
                          <a:spcPts val="225"/>
                        </a:spcBef>
                        <a:spcAft>
                          <a:spcPts val="0"/>
                        </a:spcAft>
                        <a:buClrTx/>
                        <a:buSzTx/>
                        <a:buFontTx/>
                        <a:buNone/>
                        <a:tabLst/>
                        <a:defRPr/>
                      </a:pPr>
                      <a:r>
                        <a:rPr lang="en-IN" sz="1800" dirty="0"/>
                        <a:t>GOOGLE PLAY PROTECT</a:t>
                      </a:r>
                    </a:p>
                    <a:p>
                      <a:pPr algn="ctr">
                        <a:lnSpc>
                          <a:spcPct val="100000"/>
                        </a:lnSpc>
                        <a:spcBef>
                          <a:spcPts val="225"/>
                        </a:spcBef>
                      </a:pPr>
                      <a:endParaRPr sz="1800" dirty="0">
                        <a:latin typeface="Cambria"/>
                        <a:cs typeface="Cambria"/>
                      </a:endParaRPr>
                    </a:p>
                  </a:txBody>
                  <a:tcPr marL="0" marR="0" marT="28575" marB="0"/>
                </a:tc>
                <a:tc>
                  <a:txBody>
                    <a:bodyPr/>
                    <a:lstStyle/>
                    <a:p>
                      <a:pPr algn="ctr">
                        <a:lnSpc>
                          <a:spcPct val="100000"/>
                        </a:lnSpc>
                      </a:pPr>
                      <a:r>
                        <a:rPr lang="en-IN" sz="1800" dirty="0"/>
                        <a:t>Machine Learning, </a:t>
                      </a:r>
                      <a:r>
                        <a:rPr lang="en-IN" sz="1800" dirty="0" err="1"/>
                        <a:t>Behavioral</a:t>
                      </a:r>
                      <a:r>
                        <a:rPr lang="en-IN" sz="1800" dirty="0"/>
                        <a:t> Analysis</a:t>
                      </a:r>
                      <a:endParaRPr lang="en-IN" sz="1800" dirty="0">
                        <a:latin typeface="Times New Roman"/>
                        <a:cs typeface="Times New Roman"/>
                      </a:endParaRPr>
                    </a:p>
                  </a:txBody>
                  <a:tcPr marL="0" marR="0" marT="0" marB="0"/>
                </a:tc>
                <a:tc>
                  <a:txBody>
                    <a:bodyPr/>
                    <a:lstStyle/>
                    <a:p>
                      <a:pPr algn="ctr">
                        <a:lnSpc>
                          <a:spcPct val="100000"/>
                        </a:lnSpc>
                      </a:pPr>
                      <a:r>
                        <a:rPr lang="en-GB" dirty="0"/>
                        <a:t>Scans installed apps, Automatic threat detection, Real-time protection</a:t>
                      </a:r>
                      <a:endParaRPr sz="1800" dirty="0">
                        <a:latin typeface="Times New Roman"/>
                        <a:cs typeface="Times New Roman"/>
                      </a:endParaRPr>
                    </a:p>
                  </a:txBody>
                  <a:tcPr marL="0" marR="0" marT="0" marB="0"/>
                </a:tc>
                <a:tc>
                  <a:txBody>
                    <a:bodyPr/>
                    <a:lstStyle/>
                    <a:p>
                      <a:pPr algn="ctr">
                        <a:lnSpc>
                          <a:spcPct val="100000"/>
                        </a:lnSpc>
                      </a:pPr>
                      <a:r>
                        <a:rPr lang="en-GB" sz="1800" dirty="0"/>
                        <a:t>Works mainly for Play Store apps, Limited control for user</a:t>
                      </a:r>
                      <a:endParaRPr sz="1800" dirty="0">
                        <a:latin typeface="Times New Roman"/>
                        <a:cs typeface="Times New Roman"/>
                      </a:endParaRPr>
                    </a:p>
                  </a:txBody>
                  <a:tcPr marL="0" marR="0" marT="0" marB="0"/>
                </a:tc>
                <a:extLst>
                  <a:ext uri="{0D108BD9-81ED-4DB2-BD59-A6C34878D82A}">
                    <a16:rowId xmlns:a16="http://schemas.microsoft.com/office/drawing/2014/main" val="10002"/>
                  </a:ext>
                </a:extLst>
              </a:tr>
              <a:tr h="1329603">
                <a:tc>
                  <a:txBody>
                    <a:bodyPr/>
                    <a:lstStyle/>
                    <a:p>
                      <a:pPr algn="ctr">
                        <a:lnSpc>
                          <a:spcPct val="100000"/>
                        </a:lnSpc>
                      </a:pPr>
                      <a:r>
                        <a:rPr lang="en-IN" sz="1800" dirty="0"/>
                        <a:t>CUCKOO SANDBOX</a:t>
                      </a:r>
                      <a:endParaRPr lang="en-IN" sz="1800" dirty="0">
                        <a:latin typeface="Times New Roman"/>
                        <a:cs typeface="Times New Roman"/>
                      </a:endParaRPr>
                    </a:p>
                  </a:txBody>
                  <a:tcPr marL="0" marR="0" marT="28575" marB="0"/>
                </a:tc>
                <a:tc>
                  <a:txBody>
                    <a:bodyPr/>
                    <a:lstStyle/>
                    <a:p>
                      <a:pPr algn="ctr">
                        <a:lnSpc>
                          <a:spcPct val="100000"/>
                        </a:lnSpc>
                      </a:pPr>
                      <a:r>
                        <a:rPr lang="en-GB" dirty="0"/>
                        <a:t>Dynamic Analysis, Virtual Machine Monitoring</a:t>
                      </a:r>
                      <a:endParaRPr sz="1800" dirty="0">
                        <a:latin typeface="Times New Roman"/>
                        <a:cs typeface="Times New Roman"/>
                      </a:endParaRPr>
                    </a:p>
                  </a:txBody>
                  <a:tcPr marL="0" marR="0" marT="0" marB="0"/>
                </a:tc>
                <a:tc>
                  <a:txBody>
                    <a:bodyPr/>
                    <a:lstStyle/>
                    <a:p>
                      <a:pPr algn="ctr">
                        <a:buNone/>
                      </a:pPr>
                      <a:r>
                        <a:rPr lang="en-GB" dirty="0"/>
                        <a:t>Executes suspicious files in isolated environment, </a:t>
                      </a:r>
                      <a:r>
                        <a:rPr lang="en-GB" dirty="0" err="1"/>
                        <a:t>Behavioral</a:t>
                      </a:r>
                      <a:r>
                        <a:rPr lang="en-GB" dirty="0"/>
                        <a:t> tracking</a:t>
                      </a:r>
                      <a:endParaRPr lang="en-IN" dirty="0"/>
                    </a:p>
                  </a:txBody>
                  <a:tcPr anchor="ctr"/>
                </a:tc>
                <a:tc>
                  <a:txBody>
                    <a:bodyPr/>
                    <a:lstStyle/>
                    <a:p>
                      <a:pPr algn="ctr">
                        <a:lnSpc>
                          <a:spcPct val="100000"/>
                        </a:lnSpc>
                      </a:pPr>
                      <a:r>
                        <a:rPr lang="en-GB" sz="1800" dirty="0"/>
                        <a:t>Complex setup, High system resource usage</a:t>
                      </a:r>
                      <a:endParaRPr sz="1800" dirty="0">
                        <a:latin typeface="Times New Roman"/>
                        <a:cs typeface="Times New Roman"/>
                      </a:endParaRPr>
                    </a:p>
                  </a:txBody>
                  <a:tcPr marL="0" marR="0" marT="0" marB="0"/>
                </a:tc>
                <a:extLst>
                  <a:ext uri="{0D108BD9-81ED-4DB2-BD59-A6C34878D82A}">
                    <a16:rowId xmlns:a16="http://schemas.microsoft.com/office/drawing/2014/main" val="10003"/>
                  </a:ext>
                </a:extLst>
              </a:tr>
              <a:tr h="839313">
                <a:tc>
                  <a:txBody>
                    <a:bodyPr/>
                    <a:lstStyle/>
                    <a:p>
                      <a:pPr algn="ctr">
                        <a:lnSpc>
                          <a:spcPct val="100000"/>
                        </a:lnSpc>
                      </a:pPr>
                      <a:r>
                        <a:rPr lang="en-IN" sz="1800" dirty="0"/>
                        <a:t>MOBILE ANTIVIRUS APP(E.G AVAST)</a:t>
                      </a:r>
                      <a:endParaRPr lang="en-IN" sz="1800" dirty="0">
                        <a:latin typeface="Times New Roman"/>
                        <a:cs typeface="Times New Roman"/>
                      </a:endParaRPr>
                    </a:p>
                  </a:txBody>
                  <a:tcPr marL="0" marR="0" marT="28575" marB="0"/>
                </a:tc>
                <a:tc>
                  <a:txBody>
                    <a:bodyPr/>
                    <a:lstStyle/>
                    <a:p>
                      <a:pPr algn="ctr">
                        <a:lnSpc>
                          <a:spcPct val="100000"/>
                        </a:lnSpc>
                      </a:pPr>
                      <a:r>
                        <a:rPr lang="en-IN" dirty="0"/>
                        <a:t>Signature-based detection, Heuristic Analysis</a:t>
                      </a:r>
                      <a:endParaRPr sz="1800" dirty="0">
                        <a:latin typeface="Times New Roman"/>
                        <a:cs typeface="Times New Roman"/>
                      </a:endParaRPr>
                    </a:p>
                  </a:txBody>
                  <a:tcPr marL="0" marR="0" marT="0" marB="0"/>
                </a:tc>
                <a:tc>
                  <a:txBody>
                    <a:bodyPr/>
                    <a:lstStyle/>
                    <a:p>
                      <a:pPr algn="ctr">
                        <a:lnSpc>
                          <a:spcPct val="100000"/>
                        </a:lnSpc>
                      </a:pPr>
                      <a:r>
                        <a:rPr lang="en-GB" sz="1800" dirty="0"/>
                        <a:t>Real-time protection, App scanning, Web protection</a:t>
                      </a:r>
                      <a:endParaRPr sz="1800" dirty="0">
                        <a:latin typeface="Times New Roman"/>
                        <a:cs typeface="Times New Roman"/>
                      </a:endParaRPr>
                    </a:p>
                  </a:txBody>
                  <a:tcPr marL="0" marR="0" marT="0" marB="0"/>
                </a:tc>
                <a:tc>
                  <a:txBody>
                    <a:bodyPr/>
                    <a:lstStyle/>
                    <a:p>
                      <a:pPr algn="ctr">
                        <a:lnSpc>
                          <a:spcPct val="100000"/>
                        </a:lnSpc>
                      </a:pPr>
                      <a:r>
                        <a:rPr lang="en-GB" sz="1800" dirty="0"/>
                        <a:t>Paid features, Ads in free version, High battery usage</a:t>
                      </a:r>
                      <a:endParaRPr sz="1800" dirty="0">
                        <a:latin typeface="Times New Roman"/>
                        <a:cs typeface="Times New Roman"/>
                      </a:endParaRPr>
                    </a:p>
                  </a:txBody>
                  <a:tcPr marL="0" marR="0" marT="0" marB="0"/>
                </a:tc>
                <a:extLst>
                  <a:ext uri="{0D108BD9-81ED-4DB2-BD59-A6C34878D82A}">
                    <a16:rowId xmlns:a16="http://schemas.microsoft.com/office/drawing/2014/main" val="10004"/>
                  </a:ext>
                </a:extLst>
              </a:tr>
              <a:tr h="1196643">
                <a:tc>
                  <a:txBody>
                    <a:bodyPr/>
                    <a:lstStyle/>
                    <a:p>
                      <a:pPr algn="ctr">
                        <a:lnSpc>
                          <a:spcPct val="100000"/>
                        </a:lnSpc>
                      </a:pPr>
                      <a:r>
                        <a:rPr lang="en-IN" sz="1800" dirty="0"/>
                        <a:t>STATIC APK ANALYZER TOOLS</a:t>
                      </a:r>
                      <a:endParaRPr lang="en-IN" sz="1800" dirty="0">
                        <a:latin typeface="Times New Roman"/>
                        <a:cs typeface="Times New Roman"/>
                      </a:endParaRPr>
                    </a:p>
                  </a:txBody>
                  <a:tcPr marL="0" marR="0" marT="28575" marB="0"/>
                </a:tc>
                <a:tc>
                  <a:txBody>
                    <a:bodyPr/>
                    <a:lstStyle/>
                    <a:p>
                      <a:pPr algn="ctr">
                        <a:lnSpc>
                          <a:spcPct val="100000"/>
                        </a:lnSpc>
                      </a:pPr>
                      <a:r>
                        <a:rPr lang="en-IN" dirty="0"/>
                        <a:t>Manifest Analysis, Permission Analysis, Reverse Engineering</a:t>
                      </a:r>
                      <a:endParaRPr sz="1800" dirty="0">
                        <a:latin typeface="Times New Roman"/>
                        <a:cs typeface="Times New Roman"/>
                      </a:endParaRPr>
                    </a:p>
                  </a:txBody>
                  <a:tcPr marL="0" marR="0" marT="0" marB="0"/>
                </a:tc>
                <a:tc>
                  <a:txBody>
                    <a:bodyPr/>
                    <a:lstStyle/>
                    <a:p>
                      <a:pPr algn="ctr">
                        <a:lnSpc>
                          <a:spcPct val="100000"/>
                        </a:lnSpc>
                      </a:pPr>
                      <a:r>
                        <a:rPr lang="en-GB" sz="1800" dirty="0" err="1"/>
                        <a:t>Analyzes</a:t>
                      </a:r>
                      <a:r>
                        <a:rPr lang="en-GB" sz="1800" dirty="0"/>
                        <a:t> APK permissions, Detects suspicious API calls</a:t>
                      </a:r>
                      <a:endParaRPr sz="1800" dirty="0">
                        <a:latin typeface="Times New Roman"/>
                        <a:cs typeface="Times New Roman"/>
                      </a:endParaRPr>
                    </a:p>
                  </a:txBody>
                  <a:tcPr marL="0" marR="0" marT="0" marB="0"/>
                </a:tc>
                <a:tc>
                  <a:txBody>
                    <a:bodyPr/>
                    <a:lstStyle/>
                    <a:p>
                      <a:pPr algn="ctr">
                        <a:lnSpc>
                          <a:spcPct val="100000"/>
                        </a:lnSpc>
                      </a:pPr>
                      <a:r>
                        <a:rPr lang="en-GB" sz="1800" dirty="0"/>
                        <a:t>No real-time user warning, Technical knowledge required</a:t>
                      </a:r>
                      <a:endParaRPr sz="1800" dirty="0">
                        <a:latin typeface="Times New Roman"/>
                        <a:cs typeface="Times New Roman"/>
                      </a:endParaRPr>
                    </a:p>
                  </a:txBody>
                  <a:tcPr marL="0" marR="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64772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a:extLst>
            <a:ext uri="{FF2B5EF4-FFF2-40B4-BE49-F238E27FC236}">
              <a16:creationId xmlns:a16="http://schemas.microsoft.com/office/drawing/2014/main" id="{E5B2CDCA-0528-469C-0F7C-71F16D7AA0F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AF25C4E-BEEA-D43A-D6A5-0A23D526C8F3}"/>
              </a:ext>
            </a:extLst>
          </p:cNvPr>
          <p:cNvGrpSpPr/>
          <p:nvPr/>
        </p:nvGrpSpPr>
        <p:grpSpPr>
          <a:xfrm>
            <a:off x="15041993" y="441608"/>
            <a:ext cx="1317891" cy="1060450"/>
            <a:chOff x="0" y="0"/>
            <a:chExt cx="912277" cy="734070"/>
          </a:xfrm>
        </p:grpSpPr>
        <p:sp>
          <p:nvSpPr>
            <p:cNvPr id="3" name="Freeform 3">
              <a:extLst>
                <a:ext uri="{FF2B5EF4-FFF2-40B4-BE49-F238E27FC236}">
                  <a16:creationId xmlns:a16="http://schemas.microsoft.com/office/drawing/2014/main" id="{DD87E84F-40B9-3A12-0977-1F1035765E9F}"/>
                </a:ext>
              </a:extLst>
            </p:cNvPr>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a:extLst>
              <a:ext uri="{FF2B5EF4-FFF2-40B4-BE49-F238E27FC236}">
                <a16:creationId xmlns:a16="http://schemas.microsoft.com/office/drawing/2014/main" id="{8FFDA28A-444C-0EAF-0442-9FB778C817F2}"/>
              </a:ext>
            </a:extLst>
          </p:cNvPr>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CEF0E04A-5990-7A81-03F5-70DC2E07BA49}"/>
              </a:ext>
            </a:extLst>
          </p:cNvPr>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6" name="TextBox 6">
            <a:extLst>
              <a:ext uri="{FF2B5EF4-FFF2-40B4-BE49-F238E27FC236}">
                <a16:creationId xmlns:a16="http://schemas.microsoft.com/office/drawing/2014/main" id="{BBF3B720-3521-6EDA-A44D-D6F09EFCCCD9}"/>
              </a:ext>
            </a:extLst>
          </p:cNvPr>
          <p:cNvSpPr txBox="1"/>
          <p:nvPr/>
        </p:nvSpPr>
        <p:spPr>
          <a:xfrm>
            <a:off x="3146244" y="508283"/>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PROBLEM STATEMENT</a:t>
            </a:r>
          </a:p>
        </p:txBody>
      </p:sp>
      <p:sp>
        <p:nvSpPr>
          <p:cNvPr id="7" name="TextBox 7">
            <a:extLst>
              <a:ext uri="{FF2B5EF4-FFF2-40B4-BE49-F238E27FC236}">
                <a16:creationId xmlns:a16="http://schemas.microsoft.com/office/drawing/2014/main" id="{A9170EF9-710A-5846-43E2-8BF5D52585F2}"/>
              </a:ext>
            </a:extLst>
          </p:cNvPr>
          <p:cNvSpPr txBox="1"/>
          <p:nvPr/>
        </p:nvSpPr>
        <p:spPr>
          <a:xfrm>
            <a:off x="3174134" y="1714500"/>
            <a:ext cx="12542044" cy="483659"/>
          </a:xfrm>
          <a:prstGeom prst="rect">
            <a:avLst/>
          </a:prstGeom>
        </p:spPr>
        <p:txBody>
          <a:bodyPr lIns="0" tIns="0" rIns="0" bIns="0" rtlCol="0" anchor="t">
            <a:spAutoFit/>
          </a:bodyPr>
          <a:lstStyle/>
          <a:p>
            <a:pPr algn="l">
              <a:lnSpc>
                <a:spcPts val="3656"/>
              </a:lnSpc>
            </a:pPr>
            <a:r>
              <a:rPr lang="en-US" sz="3323" b="1" dirty="0">
                <a:solidFill>
                  <a:srgbClr val="FFFFFF"/>
                </a:solidFill>
                <a:latin typeface="HK Grotesk Bold"/>
                <a:ea typeface="HK Grotesk Bold"/>
                <a:cs typeface="HK Grotesk Bold"/>
                <a:sym typeface="HK Grotesk Bold"/>
              </a:rPr>
              <a:t>VIRUSTOTAL Sample</a:t>
            </a:r>
          </a:p>
        </p:txBody>
      </p:sp>
      <p:sp>
        <p:nvSpPr>
          <p:cNvPr id="8" name="TextBox 8">
            <a:extLst>
              <a:ext uri="{FF2B5EF4-FFF2-40B4-BE49-F238E27FC236}">
                <a16:creationId xmlns:a16="http://schemas.microsoft.com/office/drawing/2014/main" id="{FFE11159-1F46-0E19-B0F9-1CDB3B24E2DC}"/>
              </a:ext>
            </a:extLst>
          </p:cNvPr>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pic>
        <p:nvPicPr>
          <p:cNvPr id="11" name="Picture 10">
            <a:extLst>
              <a:ext uri="{FF2B5EF4-FFF2-40B4-BE49-F238E27FC236}">
                <a16:creationId xmlns:a16="http://schemas.microsoft.com/office/drawing/2014/main" id="{CBF745B5-FEA7-0231-F0BF-6EC3242035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42" y="2211194"/>
            <a:ext cx="18158715" cy="8075806"/>
          </a:xfrm>
          <a:prstGeom prst="rect">
            <a:avLst/>
          </a:prstGeom>
        </p:spPr>
      </p:pic>
    </p:spTree>
    <p:extLst>
      <p:ext uri="{BB962C8B-B14F-4D97-AF65-F5344CB8AC3E}">
        <p14:creationId xmlns:p14="http://schemas.microsoft.com/office/powerpoint/2010/main" val="3548278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TotalTime>
  <Words>1299</Words>
  <Application>Microsoft Office PowerPoint</Application>
  <PresentationFormat>Custom</PresentationFormat>
  <Paragraphs>174</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quote-cjk-patch</vt:lpstr>
      <vt:lpstr>Cambria</vt:lpstr>
      <vt:lpstr>HK Grotesk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CheckPoint2</dc:title>
  <cp:lastModifiedBy>Allen Kevin Silas A</cp:lastModifiedBy>
  <cp:revision>3</cp:revision>
  <dcterms:created xsi:type="dcterms:W3CDTF">2006-08-16T00:00:00Z</dcterms:created>
  <dcterms:modified xsi:type="dcterms:W3CDTF">2026-03-05T13:24:01Z</dcterms:modified>
  <dc:identifier>DAHC84CwC7U</dc:identifier>
</cp:coreProperties>
</file>